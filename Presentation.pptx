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tags/tag1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2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tags/tag3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2" r:id="rId9"/>
    <p:sldId id="274" r:id="rId10"/>
    <p:sldId id="275" r:id="rId11"/>
    <p:sldId id="276" r:id="rId12"/>
    <p:sldId id="277" r:id="rId13"/>
    <p:sldId id="278" r:id="rId14"/>
    <p:sldId id="280" r:id="rId15"/>
    <p:sldId id="279" r:id="rId16"/>
    <p:sldId id="281" r:id="rId17"/>
    <p:sldId id="266" r:id="rId18"/>
    <p:sldId id="267" r:id="rId19"/>
    <p:sldId id="268" r:id="rId20"/>
    <p:sldId id="271" r:id="rId21"/>
    <p:sldId id="269" r:id="rId22"/>
    <p:sldId id="270" r:id="rId23"/>
    <p:sldId id="272" r:id="rId24"/>
    <p:sldId id="273" r:id="rId25"/>
  </p:sldIdLst>
  <p:sldSz cx="12192000" cy="6858000"/>
  <p:notesSz cx="6858000" cy="9144000"/>
  <p:defaultTextStyle>
    <a:defPPr>
      <a:defRPr lang="en-001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15645"/>
    <a:srgbClr val="F5D2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86574" autoAdjust="0"/>
  </p:normalViewPr>
  <p:slideViewPr>
    <p:cSldViewPr snapToGrid="0">
      <p:cViewPr varScale="1">
        <p:scale>
          <a:sx n="68" d="100"/>
          <a:sy n="68" d="100"/>
        </p:scale>
        <p:origin x="972" y="2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67" d="100"/>
          <a:sy n="67" d="100"/>
        </p:scale>
        <p:origin x="2829" y="2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FA036FA-6219-0BD4-E85A-D6B99CD2887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ED1C2-A8DA-D06B-215D-60ACC583E5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E2027B-D6B7-45CE-BA0B-E25BCF6AA73B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623603-1E49-AF39-9D13-CA1252832E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E4670D-22A8-76E7-136E-71CA37C275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616131-9402-4AC9-B55E-3200719B3CBE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2512466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7T11:15:32.73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40 111 2104 0 0,'-39'-19'16143'0'0,"54"19"-16088"0"0,41 2 41 0 0,-37 0-62 0 0,0-2 0 0 0,0 0 0 0 0,34-4 0 0 0,0-2 62 0 0,-21 3-20 0 0,-17 1-44 0 0,-4 1-7 0 0,0 0 1 0 0,17-5-1 0 0,-18 4-7 0 0,1 0 0 0 0,-1 1 1 0 0,15-1-1 0 0,21-2 24 0 0,45-9 46 0 0,-76 11-72 0 0,-1 1 0 0 0,21 0 1 0 0,10-1 6 0 0,1 0 13 0 0,-29 1-7 0 0,22-2-1 0 0,-29 2-10 0 0,0 0-1 0 0,16 1 0 0 0,-16 0 1 0 0,0 0 0 0 0,13-2-1 0 0,5-1 62 0 0,33 0-1 0 0,22-2 53 0 0,26-7-60 0 0,-68 7-78 0 0,79 1 1 0 0,224 6 4 0 0,-246 1 2 0 0,-40-6 0 0 0,106 23 0 0 0,-112-12 0 0 0,29 1 0 0 0,-53-7 0 0 0,36 0 0 0 0,-4 0 0 0 0,-37-1 0 0 0,32 4 0 0 0,-44-4 1 0 0,-1 0 0 0 0,1-1 0 0 0,17-2-1 0 0,18 1 4 0 0,-32 2-3 0 0,27-4 0 0 0,0 0 5 0 0,54-2 10 0 0,-66 4-11 0 0,-16 0-2 0 0,0 1 1 0 0,16 1 0 0 0,-1 1-6 0 0,-1-1 0 0 0,52-6-1 0 0,-73 4 3 0 0,5 1-2 0 0,1 0 0 0 0,17 3 0 0 0,18-1-8 0 0,9-3 3 0 0,71-7-10 0 0,-35 3 17 0 0,-26 8 8 0 0,-51-5 4 0 0,-1 2-1 0 0,20 2 0 0 0,28-5 45 0 0,-46 4-35 0 0,0 0 0 0 0,20-3-1 0 0,44 2 60 0 0,-75 0-73 0 0,1 0-1 0 0,-1 0 0 0 0,0 1 0 0 0,1 0 1 0 0,6 1-1 0 0,21 3 20 0 0,2-3 0 0 0,-26-1-22 0 0,1 0-1 0 0,-1-1 0 0 0,13-1 0 0 0,-14 1 0 0 0,-1-1-1 0 0,1 1 1 0 0,9 1-1 0 0,-10 0 0 0 0,0-1 0 0 0,0 0 0 0 0,8-1-1 0 0,-3 0-1 0 0,1 1 0 0 0,18 1 0 0 0,2 0 0 0 0,166 1-237 0 0,-195-2 233 0 0,1 0-1 0 0,18 0-29 0 0,-22 0 26 0 0,-2 0-24 0 0,-7 4 24 0 0,2 5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7T11:15:38.547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4 1 696 0 0,'0'0'15313'0'0,"1"5"-15204"0"0,-6 22 3186 0 0,22-27-3365 0 0,-14 0 76 0 0,0 1-1 0 0,0-1 0 0 0,0 1 0 0 0,0 0 0 0 0,0-1 0 0 0,0 2 0 0 0,4 1 0 0 0,13 4 26 0 0,-9-7-11 0 0,0 0-8 0 0,-9 1-5 0 0,1 0-1 0 0,-1-1 1 0 0,1 0-1 0 0,-1 1 1 0 0,1-1-1 0 0,-1 0 1 0 0,1-1-1 0 0,-1 1 1 0 0,1 0-1 0 0,3-1 1 0 0,-3 0-2 0 0,0 0 1 0 0,0 1 0 0 0,0 0-1 0 0,1-1 1 0 0,-1 1 0 0 0,0 1-1 0 0,0-1 1 0 0,0 0 0 0 0,3 1-1 0 0,-2 0 4 0 0,-1 0 0 0 0,1-1-1 0 0,0 1 1 0 0,-1-1 0 0 0,1 0-1 0 0,0 0 1 0 0,-1-1 0 0 0,8 0-1 0 0,-7 0 5 0 0,0 0-1 0 0,0 1 0 0 0,1-1 0 0 0,-1 1 1 0 0,1 0-1 0 0,-1 1 0 0 0,7 0 0 0 0,-4 0 5 0 0,0 0 0 0 0,0 0 0 0 0,0-1 0 0 0,0 0 0 0 0,0-1-1 0 0,0 1 1 0 0,11-4 0 0 0,10 0 48 0 0,3-1-6 0 0,-20 3-34 0 0,0 0 1 0 0,16 0-1 0 0,-3-1-2 0 0,-21 2-18 0 0,0 0 0 0 0,1 1 0 0 0,-1-1 0 0 0,1 1 1 0 0,-1 0-1 0 0,1 0 0 0 0,-1 0 0 0 0,1 1 1 0 0,4 0-1 0 0,-3 0 2 0 0,-1 0 1 0 0,1 0-1 0 0,-1-1 1 0 0,1 0-1 0 0,0 0 1 0 0,-1 0-1 0 0,1 0 1 0 0,8-2-1 0 0,-8 1 0 0 0,-1 0 1 0 0,1 0-1 0 0,0 1 0 0 0,0 0 0 0 0,0 0 1 0 0,0 0-1 0 0,8 2 0 0 0,-5 0 4 0 0,0-1 0 0 0,0 0-1 0 0,0-1 1 0 0,0 0 0 0 0,9-1-1 0 0,-9 0 0 0 0,0 1-1 0 0,-1 0 0 0 0,1 0 1 0 0,-1 1-1 0 0,1 0 0 0 0,8 2 0 0 0,-6 0 3 0 0,0 0 0 0 0,0-1 0 0 0,1 0 0 0 0,-1-1 0 0 0,0 0-1 0 0,1 0 1 0 0,10-2 0 0 0,7 4 20 0 0,-23-2-24 0 0,0 0 0 0 0,-1-1 0 0 0,1 0 0 0 0,8 0 0 0 0,-6 0 5 0 0,1 0 1 0 0,-1 0-1 0 0,14 2 0 0 0,10 1 29 0 0,-23-3-38 0 0,-1 0-1 0 0,0 1 1 0 0,1 0 0 0 0,-1 0 0 0 0,0 1 0 0 0,13 4-1 0 0,-13-4-2 0 0,-1-1-1 0 0,1 0 0 0 0,0 0 1 0 0,0 0-1 0 0,-1-1 0 0 0,1 0 1 0 0,11-1-1 0 0,7-3-12 0 0,-19 2 7 0 0,0 1 0 0 0,-1 0 0 0 0,1 0 1 0 0,0 1-1 0 0,0-1 0 0 0,0 1 0 0 0,8 1 0 0 0,-5 0-1 0 0,0 0-1 0 0,-1-1 0 0 0,1 0 1 0 0,0 0-1 0 0,0-1 1 0 0,11-3-1 0 0,-11 2 6 0 0,-1 1-1 0 0,0 0 1 0 0,1 0-1 0 0,0 1 1 0 0,-1 0 0 0 0,1 1-1 0 0,9 1 1 0 0,-9-1-1 0 0,0 1-1 0 0,17-1 1 0 0,-10 0-4 0 0,-7-1 4 0 0,0 1 1 0 0,0 0-1 0 0,0 1 0 0 0,11 3 1 0 0,-9-2 0 0 0,0 0 1 0 0,0-1 0 0 0,0-1 0 0 0,0 0 0 0 0,21-1-1 0 0,-24 0 1 0 0,8-1 2 0 0,-14 0-2 0 0,0 1 1 0 0,1 0-1 0 0,-1 0 1 0 0,0 0-1 0 0,1 0 1 0 0,-1 0-1 0 0,1 0 1 0 0,-1 1-1 0 0,3 0 1 0 0,-1 0 1 0 0,0 0-1 0 0,-1-1 1 0 0,1 1 0 0 0,0-1-1 0 0,6 0 1 0 0,9 0 5 0 0,6 2 32 0 0,37-2-1 0 0,8 0 13 0 0,-46 0-37 0 0,1-1-1 0 0,38-6 0 0 0,-60 7-11 0 0,-1 0 1 0 0,1-1-1 0 0,-1 2 0 0 0,1-1 0 0 0,-1 0 0 0 0,1 0 0 0 0,-1 1 0 0 0,5 1 0 0 0,-5-1 0 0 0,0 0 1 0 0,1-1-1 0 0,-1 1 0 0 0,0-1 0 0 0,0 0 0 0 0,1 0 0 0 0,-1 1 0 0 0,0-1 0 0 0,3-1 0 0 0,67-7 38 0 0,-37 5-24 0 0,0 2 0 0 0,46 4 0 0 0,-15 2-6 0 0,-53-3-7 0 0,0-1 1 0 0,0-1 0 0 0,19-1-1 0 0,-19 0-1 0 0,-1 1-1 0 0,15 2 1 0 0,10 0 4 0 0,-6-2-2 0 0,-4 1 1 0 0,44-5-1 0 0,-27 0-4 0 0,-28 3 0 0 0,28-4 0 0 0,9 0 0 0 0,-49 4 0 0 0,0 1 0 0 0,1 0 0 0 0,-1 0 0 0 0,0 1 0 0 0,7 1 0 0 0,16 0 0 0 0,33-10 0 0 0,-15 2 0 0 0,-41 5-2 0 0,0 1 0 0 0,0-1 0 0 0,0 1-1 0 0,0 0 1 0 0,0 0 0 0 0,0 1-1 0 0,0-1 1 0 0,0 1 0 0 0,7 2 0 0 0,6-5 0 0 0,-6 0 2 0 0,-3 2 0 0 0,0 0 0 0 0,0 1 0 0 0,0 0 0 0 0,14 3 0 0 0,-15-2 0 0 0,-1-1 0 0 0,1 0 0 0 0,0 0 0 0 0,-1 0 0 0 0,1-1 0 0 0,0 0 0 0 0,-1 0 0 0 0,9-2 0 0 0,-6 1 0 0 0,0 0 0 0 0,0 0 0 0 0,0 1 0 0 0,0 0 0 0 0,0 1 0 0 0,13 2 0 0 0,18 1 0 0 0,-20-4 0 0 0,36-5 0 0 0,12-1 0 0 0,-46 6 0 0 0,20 0 0 0 0,-36 0 1 0 0,0 0-1 0 0,-1-1 1 0 0,1 1-1 0 0,6-2 1 0 0,-7 1 0 0 0,1 0-1 0 0,0 0 1 0 0,0 1 0 0 0,7 0 0 0 0,-8 0 1 0 0,-1 0 1 0 0,0 0-1 0 0,0-1 1 0 0,0 1-1 0 0,7-2 1 0 0,-6 0 0 0 0,-1 1 1 0 0,1 1-1 0 0,0-1 1 0 0,7 1-1 0 0,-1 0 3 0 0,1-1 0 0 0,12-1 1 0 0,3-1 1 0 0,13-2 3 0 0,-26 2-3 0 0,25 0 1 0 0,-11 1-6 0 0,-20 1-1 0 0,0 0 0 0 0,15 1 0 0 0,16-1-1 0 0,-30 0 1 0 0,1 1 0 0 0,0 0-1 0 0,16 2 1 0 0,-13 0-2 0 0,0-1 1 0 0,26-1-1 0 0,6 0 8 0 0,1 1 4 0 0,-30-2 6 0 0,28 3-1 0 0,-36-1-8 0 0,0-1 1 0 0,0 0-1 0 0,12-2 1 0 0,16 1 32 0 0,-32 1-35 0 0,-1 0-1 0 0,1 0 1 0 0,0 0 0 0 0,-1-1-1 0 0,1 0 1 0 0,5-1-1 0 0,17-2 52 0 0,-13 2-31 0 0,-10 2-21 0 0,-1 0-1 0 0,0 0 1 0 0,0 0 0 0 0,0 0 0 0 0,0 0-1 0 0,1 0 1 0 0,-1 0 0 0 0,3 1 0 0 0,0 0 0 0 0,0 0 0 0 0,-1 0 0 0 0,1-1 1 0 0,0 0-1 0 0,0 0 0 0 0,0 0 0 0 0,7-2 0 0 0,-6 1-3 0 0,-1 0 0 0 0,1 1-1 0 0,0 0 1 0 0,-1 0-1 0 0,8 1 1 0 0,1 1-1 0 0,0-1 0 0 0,0-1 0 0 0,0-1 0 0 0,27-3-1 0 0,-38 3-1 0 0,4 1 0 0 0,0 0 0 0 0,0 0 0 0 0,-1 1 0 0 0,8 1 0 0 0,19 0 0 0 0,-9-4 0 0 0,-17 1 0 0 0,1 0 0 0 0,-1 1 0 0 0,1 0 0 0 0,0 0 0 0 0,12 2 0 0 0,-14-1 0 0 0,1 0 0 0 0,0 0 0 0 0,-1-1 0 0 0,1 0 0 0 0,0-1 0 0 0,8 0 0 0 0,-8 0 0 0 0,0 0 0 0 0,0 0 0 0 0,0 1 0 0 0,0 0 0 0 0,10 2 0 0 0,-2 0 0 0 0,0-1 0 0 0,-1 0 0 0 0,24-3 0 0 0,-25 2 0 0 0,0 0 0 0 0,21 3 0 0 0,-28-2 0 0 0,4-1 0 0 0,0 0 0 0 0,0 0 0 0 0,10-2 0 0 0,23 0 0 0 0,-29 2 2 0 0,24-2-1 0 0,4-1 4 0 0,62 7 3 0 0,-22 1-8 0 0,59 1-8 0 0,-72-2 0 0 0,-46-3 8 0 0,-15-1-1 0 0,-1 0-1 0 0,1 0 0 0 0,12-1 1 0 0,13-3-7 0 0,1 1 1 0 0,37 3 0 0 0,-43 0 2 0 0,39-8-24 0 0,66 1 2 0 0,-83 3 14 0 0,-34 2 1 0 0,23 1 0 0 0,83 5-38 0 0,-41 2 26 0 0,-37-4 24 0 0,-32-1 0 0 0,0 0 0 0 0,1-1 0 0 0,-1 0 0 0 0,25-4 0 0 0,11-5 0 0 0,-37 7 0 0 0,1 0 0 0 0,0 1 0 0 0,0 0 0 0 0,12 2 0 0 0,25-2 0 0 0,-32 0 0 0 0,31 2 0 0 0,-31 0 0 0 0,24-2 0 0 0,-24 0 0 0 0,-1 2 0 0 0,31 3 0 0 0,-31-2 0 0 0,1 0 0 0 0,22-2 0 0 0,-23 0 3 0 0,24 2 0 0 0,3 1 5 0 0,48 3 18 0 0,-54-3-8 0 0,-32-2-16 0 0,1 0 1 0 0,-1 0 0 0 0,1-1-1 0 0,-1 0 1 0 0,9-1 0 0 0,-3 0 3 0 0,0 1 1 0 0,0 0-1 0 0,16 2 1 0 0,-12-1-4 0 0,21-3 3 0 0,-2-1 5 0 0,-22 4-7 0 0,-1 0 0 0 0,1-1 0 0 0,11-2 0 0 0,14 3 18 0 0,-11 1-20 0 0,83 4-2 0 0,1 3 0 0 0,24 1 0 0 0,-116-9 0 0 0,-14-1 0 0 0,0 1 0 0 0,1-1 0 0 0,-1 0 0 0 0,0 0 0 0 0,8-2 0 0 0,3-1-5 0 0,0 1 0 0 0,1 1 1 0 0,-1 0-1 0 0,26 3 0 0 0,-3-1-20 0 0,226-1-166 0 0,-200 4 191 0 0,63 1-8 0 0,-80-5 48 0 0,-46 0-33 0 0,4-2-4 0 0,1-2 2 0 0,-5 0-5 0 0,-1 3-7 0 0,13-6-55 0 0,-13 7 48 0 0,1-1-9 0 0,-1 1 0 0 0,1-1 0 0 0,-1 1-1 0 0,0-1 1 0 0,1 1 0 0 0,-1-1 0 0 0,1 1-1 0 0,-1-1 1 0 0,1 1 0 0 0,-1 0 0 0 0,1-1-1 0 0,-1 1 1 0 0,1 0 0 0 0,-1 0-1 0 0,1-1 1 0 0,0 1 0 0 0,0 0 0 0 0,-3-5-155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7T11:15:51.590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1 1 96 0 0,'0'0'13968'0'0,"1"5"-13962"0"0,4 55 5 0 0,4-53-6 0 0,-4-3-3 0 0,2 7 4 0 0,-2-4-4 0 0,2-1-2 0 0,2 3 0 0 0,-8-9 0 0 0,-1 1 0 0 0,1-1 0 0 0,-1 1 0 0 0,1-1 0 0 0,-1 0 0 0 0,1 1 0 0 0,-1-1 0 0 0,1 0 0 0 0,-1 1 0 0 0,1-1 0 0 0,-1 0 0 0 0,1 0 0 0 0,0 0 0 0 0,-1 1 0 0 0,1-1 0 0 0,0 0 0 0 0,0 0 0 0 0,1 0 0 0 0,4 1 2 0 0,1 0 1 0 0,-1 0 0 0 0,1-1-1 0 0,0 0 1 0 0,8-1 0 0 0,7 0 3 0 0,-7 1-2 0 0,0-1 0 0 0,0-1 0 0 0,17-4 0 0 0,30-4 12 0 0,-33 6-7 0 0,-23 4-9 0 0,-1-1 1 0 0,1 0-1 0 0,9-2 1 0 0,-7 1 2 0 0,0 0 1 0 0,0 1-1 0 0,0 0 1 0 0,16 0-1 0 0,-16 1 1 0 0,1 0-1 0 0,-1-1 0 0 0,17-3 1 0 0,-9 1-1 0 0,-1 1-1 0 0,1 0 1 0 0,0 1 0 0 0,0 1 0 0 0,18 1 0 0 0,6 1 2 0 0,546-2 69 0 0,-578 0-75 0 0,1 1 1 0 0,0 0 0 0 0,-1 1 0 0 0,12 4 0 0 0,-11-4 2 0 0,0 1-1 0 0,0-1 1 0 0,0-1 0 0 0,14 1 0 0 0,123-6 151 0 0,-82-1-81 0 0,20-1-9 0 0,509 6 17 0 0,-462-4 2 0 0,-3-3-20 0 0,-106 7-47 0 0,32 4-1 0 0,6 0 5 0 0,-49-4-19 0 0,0 1 0 0 0,-1 1 0 0 0,12 3 0 0 0,19 2 0 0 0,-10-1 0 0 0,-24-4 0 0 0,0 0 0 0 0,0-1 0 0 0,13 1 0 0 0,-15-2 0 0 0,12 0 0 0 0,0 0 0 0 0,1 1 0 0 0,30 6 0 0 0,-20-2-2 0 0,0-1 1 0 0,1-1 0 0 0,-1-2-1 0 0,43-3 1 0 0,-2 0 0 0 0,-26 2-3 0 0,122-5-26 0 0,-143 3 22 0 0,25 2 0 0 0,-1 0 0 0 0,-28 0 6 0 0,1 1-1 0 0,17 3 0 0 0,-18-2 1 0 0,-1 0 0 0 0,25-1 0 0 0,0-2 2 0 0,63 8 0 0 0,-56-3 0 0 0,138-5-20 0 0,-77-2 9 0 0,-14 2-4 0 0,62 1-10 0 0,-109 5 20 0 0,-33-2 3 0 0,23 0 0 0 0,-30-3 1 0 0,104 4-14 0 0,-91-2 15 0 0,39-3 0 0 0,-16 0 0 0 0,214-3 0 0 0,-54 0-10 0 0,236 2 5 0 0,-312-3 11 0 0,-116 4-5 0 0,20-2-1 0 0,-18 1 0 0 0,-1 1 0 0 0,16 0 0 0 0,-2 3 0 0 0,11 1 0 0 0,54-4 0 0 0,183-4 0 0 0,-169 6 0 0 0,508-1 102 0 0,-595-1-71 0 0,23-4 0 0 0,-23 2 10 0 0,22 1 0 0 0,51-4 49 0 0,1 0-36 0 0,13-1 62 0 0,55 2 231 0 0,-5 3-144 0 0,-74 3-330 0 0,-78-1 113 0 0,-5 0 13 0 0,0 0 0 0 0,0-1 0 0 0,0 1 0 0 0,0 0 0 0 0,1 0-1 0 0,-1 0 1 0 0,0 0 0 0 0,0 0 0 0 0,0 0 0 0 0,0 0 0 0 0,1 0 0 0 0,-1 0 0 0 0,0 1 0 0 0,0-1 0 0 0,0 0 0 0 0,0 0 0 0 0,1 0 0 0 0,-1 0 0 0 0,0 0 0 0 0,0 0 0 0 0,0 0 0 0 0,0 0 0 0 0,0 0 0 0 0,1 0 0 0 0,-1 0 0 0 0,0 1 0 0 0,0-1 0 0 0,0 0 0 0 0,0 0 0 0 0,0 0 0 0 0,0 0 0 0 0,0 0 0 0 0,1 1 0 0 0,-1-1 0 0 0,0 0 0 0 0,0 0 0 0 0,0 0 0 0 0,0 0 0 0 0,0 1 0 0 0,0-1 0 0 0,0 0 0 0 0,0 0 0 0 0,0 0 0 0 0,0 0 0 0 0,0 1 0 0 0,0-1 0 0 0,0 0 0 0 0,0 0 0 0 0,0 2-10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7T11:16:06.233"/>
    </inkml:context>
    <inkml:brush xml:id="br0">
      <inkml:brushProperty name="width" value="0.3" units="cm"/>
      <inkml:brushProperty name="height" value="0.6" units="cm"/>
      <inkml:brushProperty name="color" value="#00F900"/>
      <inkml:brushProperty name="tip" value="rectangle"/>
      <inkml:brushProperty name="rasterOp" value="maskPen"/>
    </inkml:brush>
  </inkml:definitions>
  <inkml:trace contextRef="#ctx0" brushRef="#br0">1 0 96 0 0,'0'0'15152'0'0,"5"2"-15146"0"0,8 3-5 0 0,58 18 0 0 0,-60-22-1 0 0,1 0 0 0 0,-1 0 0 0 0,23-2 0 0 0,-4-1 9 0 0,53 1 225 0 0,86 3 456 0 0,-157-1-658 0 0,-1 2-1 0 0,0-1 1 0 0,12 5 0 0 0,7 2 22 0 0,-17-6-33 0 0,1 0-1 0 0,-1-2 1 0 0,1 1-1 0 0,-1-2 1 0 0,1 0-1 0 0,-1 0 1 0 0,24-5-1 0 0,-3 1 9 0 0,-1 2 1 0 0,43 3-1 0 0,-23 0-12 0 0,-50-1-17 0 0,-1 1-1 0 0,0-1 1 0 0,0 1-1 0 0,0-1 0 0 0,0 1 1 0 0,0 0-1 0 0,0 0 1 0 0,0 0-1 0 0,0 0 0 0 0,0 0 1 0 0,2 2-1 0 0,-2-2 0 0 0,0 1 0 0 0,0-1 1 0 0,0 0-1 0 0,0 0 0 0 0,0 0 0 0 0,1 0 0 0 0,-1 0 0 0 0,0 0 1 0 0,0-1-1 0 0,1 1 0 0 0,3 0 0 0 0,315-1-190 0 0,-317 0 193 0 0,0 1 0 0 0,1-1-1 0 0,-1 1 1 0 0,0 0 0 0 0,0 1-1 0 0,0-1 1 0 0,0 1-1 0 0,4 2 1 0 0,-4-2 1 0 0,0 0-1 0 0,0 0 1 0 0,0-1-1 0 0,0 0 1 0 0,1 0-1 0 0,-1 0 1 0 0,0 0-1 0 0,6 0 1 0 0,18-1 79 0 0,-6-1-28 0 0,0 2 0 0 0,-1 0-1 0 0,34 6 1 0 0,-37-4-53 0 0,0-1-1 0 0,1-1 0 0 0,33-2 1 0 0,-12 0-2 0 0,-34 1 1 0 0,0 1 0 0 0,1 0 0 0 0,9 2 0 0 0,-10-1 1 0 0,0-1-1 0 0,1 0 0 0 0,10 1 1 0 0,649-2 2708 0 0,-654-1-2676 0 0,-1 0 1 0 0,1 0-1 0 0,12-5 0 0 0,-13 4 6 0 0,0 0 0 0 0,1 0-1 0 0,12 0 1 0 0,422 2 265 0 0,-360 6-476 0 0,5-1-119 0 0,221-5-917 0 0,-250-2 1354 0 0,0-1 106 0 0,287 3-355 0 0,-283-10-86 0 0,-58 10 158 0 0,-2 1 11 0 0,-1-1 1 0 0,1-1-1 0 0,-1 1 1 0 0,0-1-1 0 0,1 0 0 0 0,9-2 1 0 0,-5 0 5 0 0,0 2 0 0 0,0-1 1 0 0,0 1-1 0 0,0 1 0 0 0,0 0 0 0 0,14 2 1 0 0,8-1 11 0 0,-5-1 2 0 0,0-1 0 0 0,49-7 0 0 0,-60 5 4 0 0,1 2 0 0 0,-1 0-1 0 0,28 2 1 0 0,-6 0-3 0 0,346-1 1311 0 0,-376 0-1253 0 0,-1-1 0 0 0,1 0 0 0 0,10-3 0 0 0,-10 2-12 0 0,0 0 0 0 0,-1 1-1 0 0,13-1 1 0 0,385 2 564 0 0,-352-5-657 0 0,-38 5 4 0 0,-5 0-15 0 0,-1 0-1 0 0,1 0 1 0 0,0-1 0 0 0,0 0-1 0 0,9-3 1 0 0,-7 2-64 0 0,0 0 0 0 0,0 0 0 0 0,0 2 1 0 0,0-1-1 0 0,18 3 0 0 0,5-1-188 0 0,731-1 293 0 0,-696-6 16 0 0,-19 0 2 0 0,65-3 33 0 0,59-2 115 0 0,-29 2 65 0 0,-66 3-50 0 0,2 0 20 0 0,242 6 81 0 0,-255 8-292 0 0,-62-8 26 0 0,1 1 0 0 0,-1 0 0 0 0,12 3 0 0 0,-12-2 0 0 0,1 0 0 0 0,-1-1 0 0 0,13 1 0 0 0,609-2-873 0 0,-455 0 764 0 0,-173 0 82 0 0,21 0-361 0 0,24 0 321 0 0,40 0 543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7T11:16:26.546"/>
    </inkml:context>
    <inkml:brush xml:id="br0">
      <inkml:brushProperty name="width" value="0.3" units="cm"/>
      <inkml:brushProperty name="height" value="0.6" units="cm"/>
      <inkml:brushProperty name="color" value="#FF2500"/>
      <inkml:brushProperty name="tip" value="rectangle"/>
      <inkml:brushProperty name="rasterOp" value="maskPen"/>
    </inkml:brush>
  </inkml:definitions>
  <inkml:trace contextRef="#ctx0" brushRef="#br0">1 36 96 0 0,'0'0'17541'0'0,"5"0"-17449"0"0,5 0-33 0 0,-1-1 1 0 0,1 0 0 0 0,12-3-1 0 0,-7 1 55 0 0,0 0 0 0 0,26 0-1 0 0,-2 0 33 0 0,-34 2-124 0 0,0 1 0 0 0,0 0-1 0 0,-1 1 1 0 0,9 1 0 0 0,16 0 64 0 0,-12-2 16 0 0,22 2 0 0 0,3 0 54 0 0,-28-2-125 0 0,71-3 136 0 0,-79 3-156 0 0,0 0-1 0 0,0 0 1 0 0,0 1-1 0 0,10 1 1 0 0,-10-1-6 0 0,1 0 1 0 0,-1 0-1 0 0,0 0 1 0 0,8-2-1 0 0,2 0 10 0 0,9-1 9 0 0,32-7 1 0 0,-27 4 14 0 0,45-3-1 0 0,-46 6-16 0 0,81 1 121 0 0,-58 2-81 0 0,-12 3-14 0 0,-33-2-38 0 0,1-1 0 0 0,-1 0 0 0 0,1 0 0 0 0,11-1 0 0 0,-10-1 7 0 0,0 1 1 0 0,17 2 0 0 0,-17 0-5 0 0,0-2 1 0 0,18 0-1 0 0,-17 0-5 0 0,0 0 0 0 0,0 1 1 0 0,17 3-1 0 0,6 0 0 0 0,-28-3-8 0 0,25 2-8 0 0,1-1 0 0 0,47-4 0 0 0,-71 2 4 0 0,-1 0-1 0 0,0 0 1 0 0,9 2 0 0 0,-10-1-4 0 0,1-1 0 0 0,-1 1 1 0 0,1-1-1 0 0,10-1 0 0 0,-10 0 2 0 0,-1 1-1 0 0,1 0 0 0 0,0 0 0 0 0,7 1 1 0 0,-7 0-4 0 0,-1-1 1 0 0,1 0-1 0 0,-1 0 1 0 0,11-1-1 0 0,65-11-114 0 0,-74 11 112 0 0,-1 1-1 0 0,1 0 1 0 0,-1 1-1 0 0,7 1 1 0 0,16 1-50 0 0,-6-4 14 0 0,-14 0 35 0 0,1 1 1 0 0,-1 0 0 0 0,0 1-1 0 0,0 0 1 0 0,0 0 0 0 0,17 5-1 0 0,-12-2 9 0 0,0-1 0 0 0,0 0 0 0 0,22 1 0 0 0,-32-3 4 0 0,34 1 1 0 0,41-3-1 0 0,-24 0 9 0 0,-12-2 0 0 0,-32 2-4 0 0,0 0 1 0 0,1 1-1 0 0,21 1 0 0 0,-13 1 9 0 0,1-1-1 0 0,-1-1 0 0 0,30-3 1 0 0,30-1 20 0 0,-34 3-11 0 0,-29 0-11 0 0,24 1 0 0 0,8 3 2 0 0,17 0 12 0 0,33 4 9 0 0,-55-5-21 0 0,103 4 20 0 0,7-11-80 0 0,-37-1-110 0 0,-94 6 100 0 0,156 5-409 0 0,-84 1 297 0 0,41-1 43 0 0,-103-4 123 0 0,6 0 2 0 0,36-6 0 0 0,22-2 0 0 0,10-2 24 0 0,-84 8 0 0 0,29 1 0 0 0,-19 0 10 0 0,-26 1-24 0 0,-1 0 0 0 0,0-1 0 0 0,0 2 1 0 0,0-1-1 0 0,11 5 0 0 0,-10-4 0 0 0,-1 0 1 0 0,1 0-1 0 0,0-1 1 0 0,10 2-1 0 0,43-2-4 0 0,-35-1-6 0 0,0 1 0 0 0,44 7-1 0 0,-47-5 0 0 0,1-1 0 0 0,0-1-1 0 0,0 0 1 0 0,34-5 0 0 0,89-11-26 0 0,-100 9 12 0 0,45-1-62 0 0,-13 1-74 0 0,-58 4 70 0 0,1 0 0 0 0,-1 1-1 0 0,31 3 1 0 0,-20 2 18 0 0,1-1-1 0 0,1-1 1 0 0,-1-2-1 0 0,46-6 1 0 0,15-2-35 0 0,16-4 41 0 0,-16-1 42 0 0,-82 12 15 0 0,-1-1 0 0 0,18 1 0 0 0,9-1 0 0 0,-22 1 0 0 0,0 1 0 0 0,1 0 0 0 0,24 4 0 0 0,-7-1 0 0 0,-24-2 0 0 0,162 5-8 0 0,-116-3 11 0 0,-38-2-1 0 0,28 0 0 0 0,81-3 25 0 0,-76 2-2 0 0,-36 0-12 0 0,0 0 0 0 0,26-3 0 0 0,-23 1 2 0 0,0 1 0 0 0,20 1 0 0 0,9 0-6 0 0,-30 0-5 0 0,-1 0 0 0 0,20 4-1 0 0,18 1 2 0 0,30 0-8 0 0,-54-2 0 0 0,35 0 0 0 0,-32-5-4 0 0,63 1-17 0 0,-78 2 13 0 0,30-5-1 0 0,5 1-6 0 0,45-2-29 0 0,-45 2 23 0 0,-19 5 11 0 0,-26-1 6 0 0,0-1 0 0 0,1 0 0 0 0,11 0 0 0 0,-11-1 2 0 0,-1 1-1 0 0,0 0 1 0 0,0 1 0 0 0,8 1 0 0 0,16 1-6 0 0,24 1 10 0 0,-35-2 2 0 0,-2 0 30 0 0,31-4 1 0 0,-32 1 18 0 0,-1 1 1 0 0,24 2-1 0 0,-19-1 2 0 0,0 0 0 0 0,1-1 0 0 0,30-5 0 0 0,3 0 4 0 0,12 0-56 0 0,-42 0-9 0 0,-21 4 7 0 0,0 0-1 0 0,0 0 1 0 0,-1 1-1 0 0,1-1 1 0 0,0 1-1 0 0,0 0 0 0 0,0 0 1 0 0,0 0-1 0 0,0 0 1 0 0,-1 1-1 0 0,7 1 0 0 0,-7-1 2 0 0,0 0 0 0 0,0-1 0 0 0,0 1 0 0 0,-1-1-1 0 0,1 0 1 0 0,0 0 0 0 0,0 0 0 0 0,0 0 0 0 0,0 0 0 0 0,4-1-1 0 0,10-1-1 0 0,-7 2 3 0 0,-7 1 0 0 0,0-1 0 0 0,0 0 0 0 0,0 0 0 0 0,0 0 0 0 0,0-1 0 0 0,0 1 0 0 0,-1-1 0 0 0,1 1 0 0 0,3-2 0 0 0,-5 1 1 0 0,1 1-1 0 0,-1 0 0 0 0,0 0 0 0 0,0-1 1 0 0,1 1-1 0 0,-1 0 0 0 0,0 0 0 0 0,1 0 1 0 0,-1 0-1 0 0,0 1 0 0 0,0-1 0 0 0,1 0 1 0 0,-1 0-1 0 0,0 1 0 0 0,2 0 0 0 0,6 1 3 0 0,-8-2-2 0 0,12 0 19 0 0,0 0 1 0 0,-1 0-1 0 0,1 1 1 0 0,-1 1 0 0 0,1 0-1 0 0,-1 1 1 0 0,14 4-1 0 0,-19-4 83 0 0,-1-1-1 0 0,1 0 1 0 0,0-1-1 0 0,0 1 1 0 0,0-1-1 0 0,0-1 1 0 0,13 1 571 0 0,-27-1-758 0 0,-40-6-317 0 0,27 4 234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7T11:16:34.737"/>
    </inkml:context>
    <inkml:brush xml:id="br0">
      <inkml:brushProperty name="width" value="0.3" units="cm"/>
      <inkml:brushProperty name="height" value="0.6" units="cm"/>
      <inkml:brushProperty name="color" value="#FF2500"/>
      <inkml:brushProperty name="tip" value="rectangle"/>
      <inkml:brushProperty name="rasterOp" value="maskPen"/>
    </inkml:brush>
  </inkml:definitions>
  <inkml:trace contextRef="#ctx0" brushRef="#br0">25 97 2304 0 0,'-14'43'16442'0'0,"12"-49"-17111"0"0,1 5 707 0 0,0 0 1 0 0,1 0-1 0 0,-1 0 1 0 0,0 0-1 0 0,1 0 0 0 0,-1 0 1 0 0,0 0-1 0 0,1 0 1 0 0,-1 0-1 0 0,1 0 1 0 0,0 0-1 0 0,-1 0 1 0 0,1 0-1 0 0,0-1 0 0 0,0 1 1 0 0,0 0-1 0 0,0-2 1 0 0,0 2-90 0 0,-1-4-602 0 0,1 4 690 0 0,0 1 1 0 0,0-1-1 0 0,0 0 0 0 0,0 1 0 0 0,0-1 0 0 0,1 1 1 0 0,-1-1-1 0 0,0 1 0 0 0,0-1 0 0 0,0 0 0 0 0,1 1 1 0 0,-1-1-1 0 0,18 0-97 0 0,0-1 0 0 0,23-5 1 0 0,-23 3-3 0 0,0 1 0 0 0,26-1 1 0 0,1 1-46 0 0,-13 4 12 0 0,0-1 0 0 0,47-7 0 0 0,-45 4 23 0 0,-5-2 29 0 0,-22 3 34 0 0,0 0-1 0 0,0 1 0 0 0,9 0 0 0 0,7 1-9 0 0,-7 1 5 0 0,22-3-1 0 0,-23 1 8 0 0,25 0 0 0 0,10 0-3 0 0,3 0 10 0 0,-37 1 0 0 0,28-2 0 0 0,-27 0 4 0 0,22 1 0 0 0,-25 2 4 0 0,29-5 0 0 0,7 1 29 0 0,-38 3-14 0 0,1 0 0 0 0,13-3 0 0 0,6-1 31 0 0,-24 4-26 0 0,0-1-1 0 0,15-3 1 0 0,1-2 121 0 0,47-4 0 0 0,-55 8-98 0 0,35-2 76 0 0,-42 4-106 0 0,0 0 1 0 0,1 1-1 0 0,-1 0 0 0 0,0 0 0 0 0,13 4 1 0 0,8 2 34 0 0,0-2-12 0 0,-11-1-19 0 0,0-2 1 0 0,23 2-1 0 0,62 3 0 0 0,-45-1-54 0 0,16-1-23 0 0,-46-2 14 0 0,-23-2 27 0 0,-1 0 0 0 0,1-1 0 0 0,-1 0 0 0 0,1 0 0 0 0,7-1 0 0 0,-6 0 0 0 0,-1 1 0 0 0,1 0 0 0 0,-1 0 0 0 0,8 1 0 0 0,-8-1 7 0 0,1 1 0 0 0,0-1 0 0 0,9-1 0 0 0,-9 0 2 0 0,0 1 0 0 0,0 0 0 0 0,11 1 0 0 0,-11 0 2 0 0,-1-1 0 0 0,1 0 0 0 0,12-1 0 0 0,65-8 0 0 0,-76 8 2 0 0,0 0-1 0 0,-1 1 1 0 0,16 1 0 0 0,7-1 1 0 0,-18-1-1 0 0,0 1 1 0 0,0 0 0 0 0,0 0-1 0 0,24 5 1 0 0,82 16 14 0 0,-104-19-6 0 0,0 0 1 0 0,24 1-1 0 0,4 0 10 0 0,-27-2-11 0 0,27-2-1 0 0,8 0 4 0 0,-35 1-7 0 0,0 0 1 0 0,17-3-1 0 0,16-1 7 0 0,42-1 0 0 0,-57 2-9 0 0,0 2-1 0 0,34 2 1 0 0,-30 2-3 0 0,-17-2 3 0 0,38 6-1 0 0,-42-4-3 0 0,0-1 1 0 0,19 0-1 0 0,23 3 10 0 0,-34-2 5 0 0,29 0 0 0 0,-18-2 1 0 0,-20-1-4 0 0,-1 0 0 0 0,16-3 0 0 0,-14 1 11 0 0,24 0 0 0 0,71-4 102 0 0,-90 6-84 0 0,27-4 1 0 0,5-1 15 0 0,-21 4-42 0 0,-8-1-1 0 0,0 2 0 0 0,27 3 0 0 0,28 2-9 0 0,-23-2 1 0 0,73 1-6 0 0,-118-4-1 0 0,-1-1-1 0 0,12-2 1 0 0,-12 2 0 0 0,-1 0 0 0 0,19 0 0 0 0,-26 1 1 0 0,13 1-6 0 0,0 0 0 0 0,0-2 0 0 0,15-1 0 0 0,41-5-7 0 0,-44 5 9 0 0,19 3-3 0 0,-7 1 1 0 0,-14-3 0 0 0,41 3 1 0 0,-49-1-4 0 0,-1-1 0 0 0,22-3 0 0 0,1 0-4 0 0,-4 0-4 0 0,-26 2 12 0 0,1 0 1 0 0,-1 0-1 0 0,1 1 1 0 0,12 1-1 0 0,-2 1-2 0 0,0-2 0 0 0,0 0 0 0 0,0-1 0 0 0,33-5 0 0 0,1-1-14 0 0,-19 1-3 0 0,-26 4 16 0 0,1 0 1 0 0,17-1-1 0 0,51-2 0 0 0,-56 4 11 0 0,-16 0 0 0 0,1 1 0 0 0,-1 0 1 0 0,0 0-1 0 0,9 1 0 0 0,5 2 29 0 0,0-1 0 0 0,0-2-1 0 0,25-1 1 0 0,-2 0 5 0 0,28 1-21 0 0,76-1 9 0 0,-85-6-26 0 0,-45 6-4 0 0,-13 1 4 0 0,1-1 0 0 0,-1 1 1 0 0,1 0-1 0 0,-1 1 0 0 0,5 0 1 0 0,-3-1-8 0 0,-1 1 0 0 0,0-1 0 0 0,1 0 0 0 0,-1 0 0 0 0,0-1 0 0 0,0 1 0 0 0,1-1 0 0 0,5-2 0 0 0,-4 1-7 0 0,1 1-1 0 0,0 0 0 0 0,8 0 0 0 0,-11 0 7 0 0,0 1 0 0 0,0-1 0 0 0,0 0 0 0 0,-1-1 0 0 0,1 1 0 0 0,0-1 0 0 0,0 0 0 0 0,6-3 0 0 0,-8 4-33 0 0,0 0 1 0 0,0 1 0 0 0,0 0-1 0 0,1 0 1 0 0,-1 0 0 0 0,0 0-1 0 0,6 1 1 0 0,3-1-192 0 0,-7 0 55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7T11:16:39.482"/>
    </inkml:context>
    <inkml:brush xml:id="br0">
      <inkml:brushProperty name="width" value="0.3" units="cm"/>
      <inkml:brushProperty name="height" value="0.6" units="cm"/>
      <inkml:brushProperty name="color" value="#FF2500"/>
      <inkml:brushProperty name="tip" value="rectangle"/>
      <inkml:brushProperty name="rasterOp" value="maskPen"/>
    </inkml:brush>
  </inkml:definitions>
  <inkml:trace contextRef="#ctx0" brushRef="#br0">1 0 96 0 0,'19'87'13485'0'0,"-19"-87"-13482"0"0,0 0-1 0 0,1 0 1 0 0,-1 0-1 0 0,0 0 1 0 0,0 0-1 0 0,0 0 1 0 0,0 0 0 0 0,0 0-1 0 0,0 0 1 0 0,0 0-1 0 0,0 0 1 0 0,0 0-1 0 0,0 0 1 0 0,0 0 0 0 0,0 0-1 0 0,0 0 1 0 0,0 0-1 0 0,0 0 1 0 0,0 0 0 0 0,0 0-1 0 0,0 0 1 0 0,0 0-1 0 0,0 0 1 0 0,0 0-1 0 0,0 0 1 0 0,0 0 0 0 0,0 0-1 0 0,0 0 1 0 0,0 0-1 0 0,0 0 1 0 0,0 0-1 0 0,0 0 1 0 0,0 0 0 0 0,0 0-1 0 0,0 0 1 0 0,0 0-1 0 0,0 0 1 0 0,0 0-1 0 0,0 0 1 0 0,0 0 0 0 0,0 0-1 0 0,0 1 1 0 0,0-1-1 0 0,0 0 1 0 0,0 0-1 0 0,0 0 1 0 0,0 0 0 0 0,0 0-1 0 0,0 0 1 0 0,0 0-1 0 0,16-2 647 0 0,-3 1-642 0 0,-3 1 1 0 0,-9 0 9 0 0,-1 3-5 0 0,0 7-9 0 0,0 2-3 0 0,0-11 0 0 0,0-1 0 0 0,0 1 0 0 0,0-1 0 0 0,0 1 0 0 0,0 0 0 0 0,0-1 0 0 0,1 1 0 0 0,-1-1 0 0 0,0 1 0 0 0,0-1 0 0 0,0 1 0 0 0,1 0 0 0 0,-1-1 0 0 0,0 1 0 0 0,0-1 0 0 0,1 1 0 0 0,11 3 0 0 0,2-1 0 0 0,-14-3 0 0 0,25-2 0 0 0,-13 2 0 0 0,445 0 32 0 0,-90 0-42 0 0,-242 0 4 0 0,11 0 6 0 0,-87 1 0 0 0,17-3 0 0 0,21-2 0 0 0,5 7 8 0 0,-38-1-2 0 0,58-2 4 0 0,1 0-10 0 0,-5 0 0 0 0,28 0 0 0 0,-84 1 0 0 0,16-3 0 0 0,-67 2 0 0 0,150-2 0 0 0,-132 3 0 0 0,39 1 0 0 0,-27-2 1 0 0,113 0 6 0 0,-12 0-7 0 0,-34 0 0 0 0,-32 0 0 0 0,79 0 0 0 0,-6-3 0 0 0,-20 4 0 0 0,-36 1 0 0 0,26-2 0 0 0,-23 0 0 0 0,-8 0 0 0 0,-20-3 0 0 0,-41 1 0 0 0,28 2 0 0 0,-24 1 0 0 0,-13 0 0 0 0,0 0 0 0 0,0-1 0 0 0,12-1 0 0 0,-14 1 0 0 0,-1 0 0 0 0,1 0 0 0 0,-1 1 0 0 0,0-1 0 0 0,9 3 0 0 0,13 1 0 0 0,189-2 30 0 0,-123-3-20 0 0,24 1-2 0 0,-96 0-8 0 0,-3-1 0 0 0,1 1 0 0 0,0 1 0 0 0,-1 1 0 0 0,22 5 0 0 0,-7 0 0 0 0,40 3 0 0 0,-40-6 0 0 0,9 0 0 0 0,1-3 0 0 0,42-3 0 0 0,2-1 0 0 0,-52 4 3 0 0,47 7 0 0 0,53 11 7 0 0,-81-14-4 0 0,106-3 1 0 0,-82-3-4 0 0,168 1 235 0 0,166 0 631 0 0,-137 0 69 0 0,-253 0-1166 0 0,-22 0 187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7T11:16:43.435"/>
    </inkml:context>
    <inkml:brush xml:id="br0">
      <inkml:brushProperty name="width" value="0.3" units="cm"/>
      <inkml:brushProperty name="height" value="0.6" units="cm"/>
      <inkml:brushProperty name="color" value="#FF2500"/>
      <inkml:brushProperty name="tip" value="rectangle"/>
      <inkml:brushProperty name="rasterOp" value="maskPen"/>
    </inkml:brush>
  </inkml:definitions>
  <inkml:trace contextRef="#ctx0" brushRef="#br0">0 1 5520 0 0,'0'0'8294'0'0,"5"6"-8286"0"0,2 2-7 0 0,0 1 1 0 0,0-1-1 0 0,1 0 0 0 0,0 0 0 0 0,1-1 0 0 0,-1 0 0 0 0,14 7 1 0 0,-7-6-2 0 0,-3-2 3 0 0,0 0 0 0 0,1 0-1 0 0,-1-2 1 0 0,1 1-1 0 0,14 2 1 0 0,52 9 7 0 0,-49-8-3 0 0,0-3 1 0 0,1 0-1 0 0,34 0 1 0 0,263-5 158 0 0,-202 8 88 0 0,-40-2 166 0 0,-49-1-167 0 0,-26-3-134 0 0,-1 0-1 0 0,15 0 1 0 0,79 4 457 0 0,670-6-425 0 0,-754 1-154 0 0,38 7 0 0 0,-20-2 1 0 0,-13-4 4 0 0,-1 0 0 0 0,0-2 0 0 0,31-4 0 0 0,-48 4-2 0 0,1 0 1 0 0,-1 0 0 0 0,1 1 0 0 0,9 2 0 0 0,19 0 3 0 0,119 2 20 0 0,-60 1-38 0 0,-73-5 13 0 0,27-4-1 0 0,-17 2 3 0 0,104-6-1 0 0,235 2 188 0 0,-264 6-158 0 0,-30-7-30 0 0,-66 5-4 0 0,-1 0 0 0 0,0 0 0 0 0,12-3 0 0 0,6-2-9 0 0,2 4-25 0 0,-21 1 17 0 0,0 0 0 0 0,18-3 0 0 0,38-9-73 0 0,15 4 29 0 0,-20-1 30 0 0,-47 8 20 0 0,1 0 0 0 0,24 0 0 0 0,-24 2 7 0 0,0-1 0 0 0,21-3 0 0 0,14-3 2 0 0,-32 5 4 0 0,21-5 1 0 0,-29 6 6 0 0,0-1 1 0 0,0 2-1 0 0,13-1 1 0 0,-13 1 2 0 0,1 0 0 0 0,-1-1 0 0 0,12-3 0 0 0,-4 1 24 0 0,1 1 1 0 0,-1 1-1 0 0,30 0 0 0 0,-24 2 5 0 0,27-4 0 0 0,35-6 0 0 0,24-3-21 0 0,-35 5-6 0 0,6-1 11 0 0,-56 5-8 0 0,-1 2 1 0 0,43 2-1 0 0,-19 0 7 0 0,-16-1-7 0 0,175-7 3 0 0,-95 2-43 0 0,-1 1-9 0 0,114 0-42 0 0,-132 5 45 0 0,344-1 57 0 0,-287 9 169 0 0,-21 1 226 0 0,-48-2-160 0 0,156 10 655 0 0,-140-17-592 0 0,-52-2-260 0 0,66-3 8 0 0,-46-1-60 0 0,20-1-4 0 0,9 2-6 0 0,-72 2 9 0 0,30-7-1 0 0,-32 5 7 0 0,-1 1 1 0 0,32-1-1 0 0,87-3 17 0 0,2 0-7 0 0,-94 7-38 0 0,-25-2-2 0 0,-1 2 0 0 0,1 1 0 0 0,0 0 0 0 0,-1 1 0 0 0,21 6-1 0 0,79 16-201 0 0,-91-22 151 0 0,53-2-1 0 0,-31-2-7 0 0,46-3-118 0 0,-84 5 69 0 0,-9 0-108 0 0,-9 0 73 0 0,0 0 110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A5D4AD-E19A-4CD0-90A7-12F841FD0B78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001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001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41E910-7BE7-4938-89D9-B6F416983992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717805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9578984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‘Context of this project was to assess… We’ll make recommendations geared towards resource allocation…’</a:t>
            </a:r>
          </a:p>
          <a:p>
            <a:r>
              <a:rPr lang="en-GB" dirty="0"/>
              <a:t>‘To present the current scenario, the marketing team uses their budget in 2 areas…’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4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9003185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‘We can define 3 NS metrics…’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5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7798976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‘Looking at the current overall performance…’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6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503816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err="1"/>
              <a:t>Signif</a:t>
            </a:r>
            <a:r>
              <a:rPr lang="en-GB" dirty="0"/>
              <a:t> differences </a:t>
            </a:r>
            <a:r>
              <a:rPr lang="en-GB" dirty="0" err="1"/>
              <a:t>btn</a:t>
            </a:r>
            <a:r>
              <a:rPr lang="en-GB" dirty="0"/>
              <a:t> campaigns – performance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Explain title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Identify campaigns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Identify HFA as individual best performer for both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Mention contributing factor – Health Awareness type campaigns – 37% CTR &amp; 8% Signup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9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8794076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Explain title (+ despite lower-than-average clicks)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Identify campaigns &amp; High Signup Rate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Identify 4 campaigns that generate 83%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10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1762590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Explain title (‘a further 4…)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Identify campaigns &amp; high CTR despite low signup rate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Identify BU as 2</a:t>
            </a:r>
            <a:r>
              <a:rPr lang="en-GB" baseline="30000" dirty="0"/>
              <a:t>nd</a:t>
            </a:r>
            <a:r>
              <a:rPr lang="en-GB" dirty="0"/>
              <a:t> best in CTR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11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5851876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Explain title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Identify campaigns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Call out GYS as outright worst performer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12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6056162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Best-performers use resources most effectively: combined total of 3 best performers $8k, while #IYH itself is $7k.</a:t>
            </a:r>
          </a:p>
          <a:p>
            <a:r>
              <a:rPr lang="en-GB" dirty="0"/>
              <a:t>With 2 campaigns costing $11k, poor performers underperform despite high resource allocation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13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2390465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Introduce next point of the story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Explain title &amp; similar performance of all campaigns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Explain trend – peak during 2020, then slow decline, ending below pandemic levels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Postulate reasons – industry-wide signups</a:t>
            </a:r>
          </a:p>
          <a:p>
            <a:pPr marL="0" lvl="0" indent="0">
              <a:buFont typeface="Arial" panose="020B0604020202020204" pitchFamily="34" charset="0"/>
              <a:buNone/>
            </a:pPr>
            <a:r>
              <a:rPr lang="en-GB" dirty="0"/>
              <a:t>Call out seemingly different CHC campaign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14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1935045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Explain difference to previous campaigns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Call out trend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Steady rise, peak in mid-2021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Sharp fall in mid-2022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15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8484853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Identify strong link of previous peaks &amp; troughs to campaign type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Explain reasons – 2021 peak, 2022 sharp fall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Identify 0 signups across 2019 in testimonials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Identify probable reason – unlaunched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Mention low CPS of $1.8 despite most expensive ($10k)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16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8189430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Make a smooth transition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17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9149241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Call out 2 recommendation strategies with short explanation</a:t>
            </a:r>
          </a:p>
          <a:p>
            <a:r>
              <a:rPr lang="en-GB" dirty="0"/>
              <a:t>Call out project goals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1</a:t>
            </a:r>
            <a:r>
              <a:rPr lang="en-GB" baseline="30000" dirty="0"/>
              <a:t>st</a:t>
            </a:r>
            <a:r>
              <a:rPr lang="en-GB" dirty="0"/>
              <a:t> recommendation – budget reallocation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Call out reasons – worst performing campaigns to best performing ones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2</a:t>
            </a:r>
            <a:r>
              <a:rPr lang="en-GB" baseline="30000" dirty="0"/>
              <a:t>nd</a:t>
            </a:r>
            <a:r>
              <a:rPr lang="en-GB" dirty="0"/>
              <a:t> recommendation – customer testimonials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Call out reasons mentioned on screen.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Call out 4 campaigns = 83% of signups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3</a:t>
            </a:r>
            <a:r>
              <a:rPr lang="en-GB" baseline="30000" dirty="0"/>
              <a:t>rd</a:t>
            </a:r>
            <a:r>
              <a:rPr lang="en-GB" dirty="0"/>
              <a:t> recommendation – identify pair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Show appendix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Identify #CoverageMatters-Product Promotion potential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GB" dirty="0"/>
              <a:t>4</a:t>
            </a:r>
            <a:r>
              <a:rPr lang="en-GB" baseline="30000" dirty="0"/>
              <a:t>th</a:t>
            </a:r>
            <a:r>
              <a:rPr lang="en-GB" dirty="0"/>
              <a:t> recommendation – call out metrics &amp; problem plans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18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6815033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Call out team to work with to address issue 1</a:t>
            </a:r>
          </a:p>
          <a:p>
            <a:r>
              <a:rPr lang="en-GB" dirty="0"/>
              <a:t>Call out team to work with to improve analysis</a:t>
            </a:r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19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2920532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4194B-1970-7575-C65C-F21C39AB5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0C4D2C-5A75-B5D4-5572-CF801B338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DBDD02-AD29-4D5A-9533-7E6FFC790F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00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B5932-2B80-9F66-88C7-84FF47D961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20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41649661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21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763342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00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41E910-7BE7-4938-89D9-B6F416983992}" type="slidenum">
              <a:rPr lang="en-001" smtClean="0"/>
              <a:t>22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713545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315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0C6BE-5C23-8D7B-A9B6-3629630C58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366B83-E92F-CD55-EA74-5587133644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F3CA7-C4AC-A4AE-4885-0703E32A4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3B1E3A-E0A4-5151-F11D-874E00C3A1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056B13-56CC-B9E3-2B2E-E05760BFC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388225129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315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8301A-9EC6-3EF1-A0F0-12BA9D2830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>
            <a:lvl1pPr algn="ctr"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  <a:endParaRPr lang="en-001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22D322-49D9-5EAE-89A2-C7E5795D45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B2CC89-2A3E-0249-D9DD-37762D4A8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DD7382-3280-8A1E-DF83-91ED8D73A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649169284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03782-AD1C-E0F4-B46A-A1A7CC38A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77B10-CD6B-36B7-57E3-5C23093D05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73E85-1345-615F-426D-282312060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05D3C3-6396-E124-03FE-F8F64A871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E7185-3E75-6C84-0ABA-E2435F5B6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7CD4C91-4EB2-703E-007A-C8C2FA3F6211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9BF70C7-793F-0296-F54F-D20E2BB0544E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8" name="Picture 7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43491951-F956-917F-CBB0-F466C2F8ED8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12285775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4B703-A34F-8F13-DF12-96BE92527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2AD2A-C8B1-AEDE-0E17-BCEE02295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6740A8-5700-2CB4-74AE-DD62DEEB0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48271-F04B-B2D9-5BE2-AF818F4B4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BF267C-1108-3029-7D42-51575C1B5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38FEC73-688A-64C5-9914-799EE47961DA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93174D6-CFE7-EEAE-0993-AD055BB4F8F8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9" name="Picture 8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566B1B4A-28EA-D183-8957-E8ECB25103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7737959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0124F-C195-B54B-64FA-2763C21A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CC3C1E-7675-15C1-7432-EFFA10FB6E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2EB6337-14AF-AB4A-D569-3252D4A12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A9863-8C32-C6D8-8537-83146E6C4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5B93D0-7B43-3A49-39E0-663F4E851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7A7FA8-41FE-4465-D599-0822BA932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41C8970-F303-B262-8E72-C59049393A84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1E7B0F9-9760-058A-BA8B-1FFAA0B92B15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10" name="Picture 9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0D3E30AC-1FB8-04FF-0EE3-292A613BA2C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28150694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E63C6-D4F6-11DE-C80E-EC2758AA2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796005-EBFB-9A8A-032F-88E23124B8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EA26F-093D-DD3E-9AA7-8FF9493DE5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573CB4-BAB3-E773-97A9-770FF6CB1D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69B8AD-AA70-F8B9-CA95-85702A95BD8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92C80F-35E2-A113-D476-18287A9DA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0D5577-12E5-2CD8-C06F-1AA794A0F7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72BF34-20BA-040F-0B09-F74CE07EA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4C0CEBC-0E69-5B49-BBFA-EF761F1F63F6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56816BA-C1AA-728E-77F8-0F8AD8362284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12" name="Picture 11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0C82A9C0-86F8-4AF0-48B6-E1D126D4058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28385730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B7D8A-E52A-7197-55BA-1D4BCF39A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075F14-D263-22AB-25F6-9D5FAFEDE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9C043E-1453-1056-DCC4-A9EAB9014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CE9893-EF30-9CFC-F5D0-DED8AF27E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50804B2-5B5C-1020-F710-F2030BFBC1F4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EB45FC7-51E7-C1AA-0DB2-2B149350AFF6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8" name="Picture 7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0CFE1F55-F0C6-FD3A-0FF5-387B7EB6511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43786028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9B0D936-A188-AD95-A48B-7115EB868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D88DA1-6368-BFA7-EA29-4E368D056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6C89E-8264-97D9-908E-C0AF20EE0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31E9DA5-F91F-B33F-5535-400879880D30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3185172-7BC7-84F5-11FD-D4CA579FCAFB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7" name="Picture 6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8FB4E377-1A9F-6BFE-8A6F-BB15C410AD1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2793265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F6B45-B8B2-7828-581E-5B93D7048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E7530-E05B-2A7A-7FFA-5203B3D1BF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0C909B-33BF-CD13-1BEE-A68CAFA835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D0AAFD-40C8-07D6-60D4-088D0D73A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EABE2B-F974-BB8E-C9DA-F13E57BD3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6F4823-0AD5-D8D1-15B6-2D480EA9F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312E337-4989-DFF2-DF1A-03D60F51C91F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5B9521D-2477-39AC-558A-F1D458D74B1C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10" name="Picture 9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1689237F-6541-7C64-387F-4B9FDBD9095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62544744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3C2E3-9CA3-F2AB-0664-BEE4C663F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56B9C9-CD66-F8E3-BA9A-6F4D767783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00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38EA50-78FE-E77F-368B-AE5C8F9FF4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25CDFE-5B8D-FC93-9917-4FB1F76EB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8084D5-1AD0-AB0B-34A2-B77F2584D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66C9DF-01ED-86C8-C417-509B373BD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50E6DA3-0FBF-969C-A06D-B52155BE7E0B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5F71945-EE03-C34D-4E23-9D8C70973D38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10" name="Picture 9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5D42ECCA-466C-3F1F-25A3-9D02F29CE2A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4039006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CCBA4-4A9A-14AA-C681-2591C4800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38F678-4535-00D1-E7FB-713D6E8802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620E3-50FD-3F1E-8BDE-8F7EEB9A2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71E370-5909-6A6B-0722-E435E3FBC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6E7CA-94D0-B45D-5789-8E7AF8751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142F59B-3617-7861-ADBF-F444B9C7F404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76E87CC-6947-F639-F1C1-4BF82000395E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9" name="Picture 8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4F649586-C7C6-6D57-3DF7-84505A83DEA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34678955"/>
      </p:ext>
    </p:extLst>
  </p:cSld>
  <p:clrMapOvr>
    <a:masterClrMapping/>
  </p:clrMapOvr>
  <p:transition spd="slow">
    <p:push dir="u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DC4A51-B837-D608-BEA1-BD23290FB7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B44EE0-10DD-411B-1FEE-49EA0E5F3B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39A083-82F5-B827-42A0-68F551B00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CDFC9-DC4B-449E-AE90-1CD2D7BD542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56F91D-6A5F-D125-0F2A-99EEE907E3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C2BCC7-E5FA-BA4B-4215-62EFAD76D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A085911-DFC1-F65A-235E-933BF309A593}"/>
              </a:ext>
            </a:extLst>
          </p:cNvPr>
          <p:cNvGrpSpPr/>
          <p:nvPr userDrawn="1"/>
        </p:nvGrpSpPr>
        <p:grpSpPr>
          <a:xfrm>
            <a:off x="0" y="0"/>
            <a:ext cx="12245788" cy="6896350"/>
            <a:chOff x="0" y="0"/>
            <a:chExt cx="12245788" cy="689635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492A832-EB06-3083-6185-5072A65E924E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 w="76200">
              <a:solidFill>
                <a:srgbClr val="F5D23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001"/>
            </a:p>
          </p:txBody>
        </p:sp>
        <p:pic>
          <p:nvPicPr>
            <p:cNvPr id="9" name="Picture 8" descr="A heart in a circle with text&#10;&#10;AI-generated content may be incorrect.">
              <a:extLst>
                <a:ext uri="{FF2B5EF4-FFF2-40B4-BE49-F238E27FC236}">
                  <a16:creationId xmlns:a16="http://schemas.microsoft.com/office/drawing/2014/main" id="{BEFBC600-7308-DB69-F164-EB96D111BC3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05788" y="6356350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22210097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1F76150-4E55-47CF-6066-D17E27452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001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83113-376B-9B06-11BF-BE58BAD0AC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001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C03BE-BB97-FA00-C6B9-6ED25E1AA2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5CCDFC9-DC4B-449E-AE90-1CD2D7BD5427}" type="datetimeFigureOut">
              <a:rPr lang="en-001" smtClean="0"/>
              <a:t>19/11/2025</a:t>
            </a:fld>
            <a:endParaRPr lang="en-001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31AE0-EADD-D753-C969-7482CA4352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001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70C85A-B7EF-1D71-F643-3A6ECAB092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CB4678-20A2-45EA-984D-27DAC8E1B902}" type="slidenum">
              <a:rPr lang="en-001" smtClean="0"/>
              <a:t>‹#›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5270031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ransition spd="slow">
    <p:push dir="u"/>
  </p:transition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001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xl.com/guides/click-through-rate/benchmarks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varos.com/benchmarks/google-cost-per-conversion-for-insurance-services" TargetMode="External"/><Relationship Id="rId4" Type="http://schemas.openxmlformats.org/officeDocument/2006/relationships/hyperlink" Target="https://internationaloutsourcinggroup.com/blog/seo-benchmarks-by-industry/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customXml" Target="../ink/ink6.xml"/><Relationship Id="rId18" Type="http://schemas.openxmlformats.org/officeDocument/2006/relationships/image" Target="../media/image10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7.png"/><Relationship Id="rId17" Type="http://schemas.openxmlformats.org/officeDocument/2006/relationships/customXml" Target="../ink/ink8.xml"/><Relationship Id="rId2" Type="http://schemas.openxmlformats.org/officeDocument/2006/relationships/image" Target="../media/image2.png"/><Relationship Id="rId16" Type="http://schemas.openxmlformats.org/officeDocument/2006/relationships/image" Target="../media/image9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openxmlformats.org/officeDocument/2006/relationships/customXml" Target="../ink/ink4.xml"/><Relationship Id="rId1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8.xml"/><Relationship Id="rId1" Type="http://schemas.openxmlformats.org/officeDocument/2006/relationships/tags" Target="../tags/tag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8.xml"/><Relationship Id="rId1" Type="http://schemas.openxmlformats.org/officeDocument/2006/relationships/tags" Target="../tags/tag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slide" Target="slide2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.xml"/><Relationship Id="rId4" Type="http://schemas.openxmlformats.org/officeDocument/2006/relationships/slide" Target="slide2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app/profile/shreeraj.salunke/viz/SafetyNetDashboard/Dashboard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156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D4B3F7F-54EF-72B0-7EAF-B637905908B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  <a:latin typeface="Montserrat Medium" pitchFamily="2" charset="0"/>
              </a:rPr>
              <a:t>Marketing Insights &amp; Recommendations</a:t>
            </a:r>
          </a:p>
          <a:p>
            <a:r>
              <a:rPr lang="en-GB" sz="1600" dirty="0">
                <a:solidFill>
                  <a:schemeClr val="bg1"/>
                </a:solidFill>
                <a:latin typeface="Montserrat Light" pitchFamily="2" charset="0"/>
              </a:rPr>
              <a:t>Campaign Performance</a:t>
            </a:r>
          </a:p>
          <a:p>
            <a:r>
              <a:rPr lang="en-GB" sz="1600" dirty="0">
                <a:solidFill>
                  <a:schemeClr val="bg1"/>
                </a:solidFill>
                <a:latin typeface="Montserrat Light" pitchFamily="2" charset="0"/>
              </a:rPr>
              <a:t>Shreeraj Salunke – Data Team</a:t>
            </a:r>
            <a:endParaRPr lang="en-001" sz="1600" dirty="0">
              <a:solidFill>
                <a:schemeClr val="bg1"/>
              </a:solidFill>
              <a:latin typeface="Montserrat Light" pitchFamily="2" charset="0"/>
            </a:endParaRPr>
          </a:p>
        </p:txBody>
      </p:sp>
      <p:pic>
        <p:nvPicPr>
          <p:cNvPr id="4" name="Picture 3" descr="A heart in a circle with text&#10;&#10;AI-generated content may be incorrect.">
            <a:extLst>
              <a:ext uri="{FF2B5EF4-FFF2-40B4-BE49-F238E27FC236}">
                <a16:creationId xmlns:a16="http://schemas.microsoft.com/office/drawing/2014/main" id="{B6289DBF-10D8-F22C-21F2-AB00AB433A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1455962"/>
            <a:ext cx="1800000" cy="1800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2C65272-D518-6B60-D6FB-1FF810AC8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700613491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956B6-7BAB-F99E-FBAB-6707E36AC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Contents</a:t>
            </a:r>
            <a:endParaRPr lang="en-001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427CF-7248-D481-55A2-57C513A491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dirty="0">
                <a:latin typeface="Montserrat" pitchFamily="2" charset="0"/>
              </a:rPr>
              <a:t>Project Overview</a:t>
            </a:r>
          </a:p>
          <a:p>
            <a:r>
              <a:rPr lang="en-GB" sz="2000" dirty="0">
                <a:latin typeface="Montserrat" pitchFamily="2" charset="0"/>
              </a:rPr>
              <a:t>Insights Deep-Dive</a:t>
            </a:r>
          </a:p>
          <a:p>
            <a:r>
              <a:rPr lang="en-GB" sz="2000" dirty="0">
                <a:latin typeface="Montserrat" pitchFamily="2" charset="0"/>
              </a:rPr>
              <a:t>Recommendations &amp; Next Steps</a:t>
            </a:r>
          </a:p>
          <a:p>
            <a:r>
              <a:rPr lang="en-GB" sz="2000" dirty="0">
                <a:latin typeface="Montserrat" pitchFamily="2" charset="0"/>
              </a:rPr>
              <a:t>Appendix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514E83-BF8C-1010-88D5-D78081F66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2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767727665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52078-7FED-4562-2DE0-F1B22AAEE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sz="4000" dirty="0"/>
              <a:t>Project Overview</a:t>
            </a:r>
            <a:endParaRPr lang="en-00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34AB18-9153-D004-60E4-F28F96F9D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3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247461885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D7708-8DEA-36B2-3A51-72040AA68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sz="4000" dirty="0"/>
              <a:t>Context</a:t>
            </a:r>
            <a:endParaRPr lang="en-00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C6D2C8-3BA5-651C-6D3A-6457745C1FDA}"/>
              </a:ext>
            </a:extLst>
          </p:cNvPr>
          <p:cNvSpPr txBox="1"/>
          <p:nvPr/>
        </p:nvSpPr>
        <p:spPr>
          <a:xfrm>
            <a:off x="3552825" y="1997839"/>
            <a:ext cx="508635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" pitchFamily="2" charset="0"/>
              </a:rPr>
              <a:t>This project </a:t>
            </a:r>
            <a:r>
              <a:rPr lang="en-GB" b="1" dirty="0">
                <a:latin typeface="Montserrat" pitchFamily="2" charset="0"/>
              </a:rPr>
              <a:t>assesses marketing campaign performance</a:t>
            </a:r>
            <a:r>
              <a:rPr lang="en-GB" dirty="0">
                <a:latin typeface="Montserrat" pitchFamily="2" charset="0"/>
              </a:rPr>
              <a:t> for campaign categories Safety Net introduced in 2019 and makes recommendations on improving marketing budget allocation for 2024.</a:t>
            </a:r>
          </a:p>
          <a:p>
            <a:pPr algn="ctr"/>
            <a:endParaRPr lang="en-GB" dirty="0">
              <a:latin typeface="Montserrat" pitchFamily="2" charset="0"/>
            </a:endParaRPr>
          </a:p>
          <a:p>
            <a:pPr algn="ctr"/>
            <a:r>
              <a:rPr lang="en-GB" dirty="0">
                <a:latin typeface="Montserrat" pitchFamily="2" charset="0"/>
              </a:rPr>
              <a:t>Currently, the marketing budget is allocated towards two main areas: </a:t>
            </a:r>
            <a:r>
              <a:rPr lang="en-GB" b="1" dirty="0">
                <a:latin typeface="Montserrat" pitchFamily="2" charset="0"/>
              </a:rPr>
              <a:t>1 – generating signups and 2 – increasing brand awareness </a:t>
            </a:r>
            <a:r>
              <a:rPr lang="en-GB" dirty="0">
                <a:latin typeface="Montserrat" pitchFamily="2" charset="0"/>
              </a:rPr>
              <a:t>through clicks.</a:t>
            </a:r>
            <a:endParaRPr lang="en-001" dirty="0">
              <a:latin typeface="Montserrat" pitchFamily="2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362765-F378-FB8C-64CE-D864D2AE13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4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88018687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A38DA-B40D-077F-DC09-936A13D0A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North Star Metrics</a:t>
            </a:r>
            <a:endParaRPr lang="en-001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257E8C-3670-A7D1-7C1B-DB285CE98ADA}"/>
              </a:ext>
            </a:extLst>
          </p:cNvPr>
          <p:cNvSpPr txBox="1"/>
          <p:nvPr/>
        </p:nvSpPr>
        <p:spPr>
          <a:xfrm>
            <a:off x="838200" y="1403350"/>
            <a:ext cx="10515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Montserrat" pitchFamily="2" charset="0"/>
              </a:rPr>
              <a:t>The project uses the following metrics in assessing performance:</a:t>
            </a:r>
            <a:endParaRPr lang="en-001" sz="1600" dirty="0">
              <a:latin typeface="Montserrat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02DF9F-6F77-9690-CFF5-42156540A347}"/>
              </a:ext>
            </a:extLst>
          </p:cNvPr>
          <p:cNvSpPr txBox="1"/>
          <p:nvPr/>
        </p:nvSpPr>
        <p:spPr>
          <a:xfrm>
            <a:off x="2470151" y="2108200"/>
            <a:ext cx="3619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 Medium" pitchFamily="2" charset="0"/>
              </a:rPr>
              <a:t>Marketing Metrics</a:t>
            </a:r>
            <a:endParaRPr lang="en-001" dirty="0">
              <a:latin typeface="Montserrat Medium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E68045-C14F-E472-7813-860C0C3BB514}"/>
              </a:ext>
            </a:extLst>
          </p:cNvPr>
          <p:cNvSpPr txBox="1"/>
          <p:nvPr/>
        </p:nvSpPr>
        <p:spPr>
          <a:xfrm>
            <a:off x="6096000" y="2108200"/>
            <a:ext cx="3619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 Medium" pitchFamily="2" charset="0"/>
              </a:rPr>
              <a:t>Signup Metrics</a:t>
            </a:r>
            <a:endParaRPr lang="en-001" dirty="0">
              <a:latin typeface="Montserrat Medium" pitchFamily="2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CA5DF98-3C24-A304-B266-47A93F12BE6E}"/>
              </a:ext>
            </a:extLst>
          </p:cNvPr>
          <p:cNvGrpSpPr/>
          <p:nvPr/>
        </p:nvGrpSpPr>
        <p:grpSpPr>
          <a:xfrm>
            <a:off x="2790827" y="3764379"/>
            <a:ext cx="2978150" cy="984885"/>
            <a:chOff x="2971800" y="3090446"/>
            <a:chExt cx="2978150" cy="984885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12DF399-6357-746D-182C-618B624D60AD}"/>
                </a:ext>
              </a:extLst>
            </p:cNvPr>
            <p:cNvSpPr txBox="1"/>
            <p:nvPr/>
          </p:nvSpPr>
          <p:spPr>
            <a:xfrm>
              <a:off x="2971800" y="3090446"/>
              <a:ext cx="2978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latin typeface="Montserrat Medium" pitchFamily="2" charset="0"/>
                </a:rPr>
                <a:t>Click-Through Rate (CTR)</a:t>
              </a:r>
              <a:endParaRPr lang="en-001" sz="1600" dirty="0">
                <a:latin typeface="Montserrat Medium" pitchFamily="2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329D382-B9BB-F372-6044-D0621977B8ED}"/>
                </a:ext>
              </a:extLst>
            </p:cNvPr>
            <p:cNvSpPr txBox="1"/>
            <p:nvPr/>
          </p:nvSpPr>
          <p:spPr>
            <a:xfrm>
              <a:off x="2971800" y="3429000"/>
              <a:ext cx="29781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GB" sz="1200" dirty="0">
                  <a:latin typeface="Montserrat Light" pitchFamily="2" charset="0"/>
                </a:rPr>
                <a:t>Percent of people who click on a campaign from among the number of people it reaches (impressions).</a:t>
              </a:r>
              <a:endParaRPr lang="en-001" sz="1200" dirty="0">
                <a:latin typeface="Montserrat Light" pitchFamily="2" charset="0"/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859F13E-D4D8-235D-9205-7EE033AD4677}"/>
              </a:ext>
            </a:extLst>
          </p:cNvPr>
          <p:cNvGrpSpPr/>
          <p:nvPr/>
        </p:nvGrpSpPr>
        <p:grpSpPr>
          <a:xfrm>
            <a:off x="6423024" y="3087271"/>
            <a:ext cx="2978150" cy="984885"/>
            <a:chOff x="2971800" y="3090446"/>
            <a:chExt cx="2978150" cy="98488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2EAB4E7-496B-7DE6-CAFC-A9905F569D89}"/>
                </a:ext>
              </a:extLst>
            </p:cNvPr>
            <p:cNvSpPr txBox="1"/>
            <p:nvPr/>
          </p:nvSpPr>
          <p:spPr>
            <a:xfrm>
              <a:off x="2971800" y="3090446"/>
              <a:ext cx="2978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latin typeface="Montserrat Medium" pitchFamily="2" charset="0"/>
                </a:rPr>
                <a:t>Signup Rate</a:t>
              </a:r>
              <a:endParaRPr lang="en-001" sz="1600" dirty="0">
                <a:latin typeface="Montserrat Medium" pitchFamily="2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19E3A8-E2C6-F1A3-BDD1-1F77C58994AF}"/>
                </a:ext>
              </a:extLst>
            </p:cNvPr>
            <p:cNvSpPr txBox="1"/>
            <p:nvPr/>
          </p:nvSpPr>
          <p:spPr>
            <a:xfrm>
              <a:off x="2971800" y="3429000"/>
              <a:ext cx="297815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GB" sz="1200" dirty="0">
                  <a:latin typeface="Montserrat Light" pitchFamily="2" charset="0"/>
                </a:rPr>
                <a:t>Percent of people who sign up to one of Safety Net’s plans following a campaign click.</a:t>
              </a:r>
              <a:endParaRPr lang="en-001" sz="1200" dirty="0">
                <a:latin typeface="Montserrat Light" pitchFamily="2" charset="0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5DF243F-B8C1-C60C-166A-D4AAA8C60646}"/>
              </a:ext>
            </a:extLst>
          </p:cNvPr>
          <p:cNvGrpSpPr/>
          <p:nvPr/>
        </p:nvGrpSpPr>
        <p:grpSpPr>
          <a:xfrm>
            <a:off x="6423024" y="4410710"/>
            <a:ext cx="2978150" cy="800219"/>
            <a:chOff x="2971800" y="3090446"/>
            <a:chExt cx="2978150" cy="800219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5D836D1-F6D6-E215-6CEA-A26D6F0D6F08}"/>
                </a:ext>
              </a:extLst>
            </p:cNvPr>
            <p:cNvSpPr txBox="1"/>
            <p:nvPr/>
          </p:nvSpPr>
          <p:spPr>
            <a:xfrm>
              <a:off x="2971800" y="3090446"/>
              <a:ext cx="2978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latin typeface="Montserrat Medium" pitchFamily="2" charset="0"/>
                </a:rPr>
                <a:t>Cost-per-Signup (CPS)</a:t>
              </a:r>
              <a:endParaRPr lang="en-001" sz="1600" dirty="0">
                <a:latin typeface="Montserrat Medium" pitchFamily="2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2EBF4C6-2566-0947-B68D-E9DAB00D0269}"/>
                </a:ext>
              </a:extLst>
            </p:cNvPr>
            <p:cNvSpPr txBox="1"/>
            <p:nvPr/>
          </p:nvSpPr>
          <p:spPr>
            <a:xfrm>
              <a:off x="2971800" y="3429000"/>
              <a:ext cx="29781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GB" sz="1200" dirty="0">
                  <a:latin typeface="Montserrat Light" pitchFamily="2" charset="0"/>
                </a:rPr>
                <a:t>Amount it costs in US$ to obtain one new customer</a:t>
              </a:r>
              <a:endParaRPr lang="en-001" sz="1200" dirty="0">
                <a:latin typeface="Montserrat Light" pitchFamily="2" charset="0"/>
              </a:endParaRPr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8F0B699-D5AC-7737-21C5-6226D71480EA}"/>
              </a:ext>
            </a:extLst>
          </p:cNvPr>
          <p:cNvCxnSpPr>
            <a:cxnSpLocks/>
          </p:cNvCxnSpPr>
          <p:nvPr/>
        </p:nvCxnSpPr>
        <p:spPr>
          <a:xfrm>
            <a:off x="2476500" y="2711450"/>
            <a:ext cx="724535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2A99DE0-1B1C-FB7A-6333-CF66E9EA6DEF}"/>
              </a:ext>
            </a:extLst>
          </p:cNvPr>
          <p:cNvCxnSpPr>
            <a:cxnSpLocks/>
          </p:cNvCxnSpPr>
          <p:nvPr/>
        </p:nvCxnSpPr>
        <p:spPr>
          <a:xfrm>
            <a:off x="6096000" y="2000250"/>
            <a:ext cx="0" cy="43243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CA76171-320C-7ED0-24A6-4F796DF02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5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62744107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57F1C-7245-CC05-FFE0-34115E62C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F3AA4-11A9-DA1A-F24B-0FC636FE7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North Star Metrics – Current Outlook</a:t>
            </a:r>
            <a:endParaRPr lang="en-001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7DCCAC-8702-4D25-DFBC-9975C53D336E}"/>
              </a:ext>
            </a:extLst>
          </p:cNvPr>
          <p:cNvSpPr txBox="1"/>
          <p:nvPr/>
        </p:nvSpPr>
        <p:spPr>
          <a:xfrm>
            <a:off x="838200" y="1403350"/>
            <a:ext cx="10515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latin typeface="Montserrat" pitchFamily="2" charset="0"/>
              </a:rPr>
              <a:t>Overall North Star Metrics are in line with industry trends.</a:t>
            </a:r>
            <a:endParaRPr lang="en-001" sz="1600" dirty="0">
              <a:latin typeface="Montserrat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AE955D-BB73-73E0-20A1-3DED0F1F53FF}"/>
              </a:ext>
            </a:extLst>
          </p:cNvPr>
          <p:cNvSpPr txBox="1"/>
          <p:nvPr/>
        </p:nvSpPr>
        <p:spPr>
          <a:xfrm>
            <a:off x="2470151" y="2108200"/>
            <a:ext cx="3619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 Medium" pitchFamily="2" charset="0"/>
              </a:rPr>
              <a:t>Marketing Metrics</a:t>
            </a:r>
            <a:endParaRPr lang="en-001" dirty="0">
              <a:latin typeface="Montserrat Medium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C2BECE-C06E-BAC2-39A9-CDD9C4DD7E93}"/>
              </a:ext>
            </a:extLst>
          </p:cNvPr>
          <p:cNvSpPr txBox="1"/>
          <p:nvPr/>
        </p:nvSpPr>
        <p:spPr>
          <a:xfrm>
            <a:off x="6096000" y="2108200"/>
            <a:ext cx="36195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latin typeface="Montserrat Medium" pitchFamily="2" charset="0"/>
              </a:rPr>
              <a:t>Signup Metrics</a:t>
            </a:r>
            <a:endParaRPr lang="en-001" dirty="0">
              <a:latin typeface="Montserrat Medium" pitchFamily="2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A63C565-6648-CA89-10BD-C6FEA7A4FE9F}"/>
              </a:ext>
            </a:extLst>
          </p:cNvPr>
          <p:cNvGrpSpPr/>
          <p:nvPr/>
        </p:nvGrpSpPr>
        <p:grpSpPr>
          <a:xfrm>
            <a:off x="2790826" y="3841323"/>
            <a:ext cx="2978150" cy="830997"/>
            <a:chOff x="2971800" y="3090446"/>
            <a:chExt cx="2978150" cy="830997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80E5670-7725-0F27-B594-560651975AE3}"/>
                </a:ext>
              </a:extLst>
            </p:cNvPr>
            <p:cNvSpPr txBox="1"/>
            <p:nvPr/>
          </p:nvSpPr>
          <p:spPr>
            <a:xfrm>
              <a:off x="2971800" y="3090446"/>
              <a:ext cx="2978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latin typeface="Montserrat Medium" pitchFamily="2" charset="0"/>
                </a:rPr>
                <a:t>Click-Through Rate (CTR)</a:t>
              </a:r>
              <a:endParaRPr lang="en-001" sz="1600" dirty="0">
                <a:latin typeface="Montserrat Medium" pitchFamily="2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17CCF6A-58C5-DD94-8D33-4FD68A99433F}"/>
                </a:ext>
              </a:extLst>
            </p:cNvPr>
            <p:cNvSpPr txBox="1"/>
            <p:nvPr/>
          </p:nvSpPr>
          <p:spPr>
            <a:xfrm>
              <a:off x="2971800" y="3429000"/>
              <a:ext cx="297815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GB" sz="1400" b="1" dirty="0"/>
                <a:t>9.39%</a:t>
              </a:r>
              <a:r>
                <a:rPr lang="en-GB" sz="1200" dirty="0"/>
                <a:t> of people who see a campaign click on it. </a:t>
              </a:r>
              <a:r>
                <a:rPr lang="en-GB" sz="800" dirty="0">
                  <a:hlinkClick r:id="rId3"/>
                </a:rPr>
                <a:t>[Source]</a:t>
              </a:r>
              <a:endParaRPr lang="en-001" sz="800" b="1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B23CE36-030B-D4E8-739E-EBD33C92063B}"/>
              </a:ext>
            </a:extLst>
          </p:cNvPr>
          <p:cNvGrpSpPr/>
          <p:nvPr/>
        </p:nvGrpSpPr>
        <p:grpSpPr>
          <a:xfrm>
            <a:off x="6423024" y="3087271"/>
            <a:ext cx="2978150" cy="1200328"/>
            <a:chOff x="2971800" y="3090446"/>
            <a:chExt cx="2978150" cy="1200328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52118A8D-7E35-3F6E-19F6-9ED99CBF6113}"/>
                </a:ext>
              </a:extLst>
            </p:cNvPr>
            <p:cNvSpPr txBox="1"/>
            <p:nvPr/>
          </p:nvSpPr>
          <p:spPr>
            <a:xfrm>
              <a:off x="2971800" y="3090446"/>
              <a:ext cx="2978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latin typeface="Montserrat Medium" pitchFamily="2" charset="0"/>
                </a:rPr>
                <a:t>Signup Rate</a:t>
              </a:r>
              <a:endParaRPr lang="en-001" sz="1600" dirty="0">
                <a:latin typeface="Montserrat Medium" pitchFamily="2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82E4FCC-C144-FF36-04BB-E238FF8B4863}"/>
                </a:ext>
              </a:extLst>
            </p:cNvPr>
            <p:cNvSpPr txBox="1"/>
            <p:nvPr/>
          </p:nvSpPr>
          <p:spPr>
            <a:xfrm>
              <a:off x="2971800" y="3429000"/>
              <a:ext cx="2978150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GB" sz="1200" dirty="0"/>
                <a:t>Among the people who click on a campaign, </a:t>
              </a:r>
              <a:r>
                <a:rPr lang="en-GB" sz="1400" b="1" dirty="0"/>
                <a:t>1.92%</a:t>
              </a:r>
              <a:r>
                <a:rPr lang="en-GB" sz="1200" dirty="0"/>
                <a:t> purchase a health insurance plan, amounting to 16,338 customers. </a:t>
              </a:r>
              <a:r>
                <a:rPr lang="en-GB" sz="800" dirty="0">
                  <a:hlinkClick r:id="rId4"/>
                </a:rPr>
                <a:t>[Source]</a:t>
              </a:r>
              <a:endParaRPr lang="en-001" sz="12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B7DE5D5-52C6-3A8E-DBF6-F2F7D0130F26}"/>
              </a:ext>
            </a:extLst>
          </p:cNvPr>
          <p:cNvGrpSpPr/>
          <p:nvPr/>
        </p:nvGrpSpPr>
        <p:grpSpPr>
          <a:xfrm>
            <a:off x="6423024" y="4413885"/>
            <a:ext cx="2978150" cy="830997"/>
            <a:chOff x="2971800" y="3090446"/>
            <a:chExt cx="2978150" cy="830997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29778EE-A451-229B-C81D-7F9FBE782A98}"/>
                </a:ext>
              </a:extLst>
            </p:cNvPr>
            <p:cNvSpPr txBox="1"/>
            <p:nvPr/>
          </p:nvSpPr>
          <p:spPr>
            <a:xfrm>
              <a:off x="2971800" y="3090446"/>
              <a:ext cx="29781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600" dirty="0">
                  <a:latin typeface="Montserrat Medium" pitchFamily="2" charset="0"/>
                </a:rPr>
                <a:t>Cost-per-Signup (CPS)</a:t>
              </a:r>
              <a:endParaRPr lang="en-001" sz="1600" dirty="0">
                <a:latin typeface="Montserrat Medium" pitchFamily="2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5910D04F-ECFA-98B2-86C7-5B07B4CEA9D9}"/>
                </a:ext>
              </a:extLst>
            </p:cNvPr>
            <p:cNvSpPr txBox="1"/>
            <p:nvPr/>
          </p:nvSpPr>
          <p:spPr>
            <a:xfrm>
              <a:off x="2971800" y="3429000"/>
              <a:ext cx="2978150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GB" sz="1200" dirty="0"/>
                <a:t>It costs </a:t>
              </a:r>
              <a:r>
                <a:rPr lang="en-GB" sz="1400" b="1" dirty="0"/>
                <a:t>$3.68</a:t>
              </a:r>
              <a:r>
                <a:rPr lang="en-GB" sz="1200" dirty="0"/>
                <a:t> for a new customer to purchase a plan. </a:t>
              </a:r>
              <a:r>
                <a:rPr lang="en-GB" sz="800" dirty="0">
                  <a:hlinkClick r:id="rId5"/>
                </a:rPr>
                <a:t>[Source]</a:t>
              </a:r>
              <a:endParaRPr lang="en-001" sz="1200" dirty="0"/>
            </a:p>
          </p:txBody>
        </p:sp>
      </p:grp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DCB794E-238A-8D17-2B4A-A33AF59B9B0A}"/>
              </a:ext>
            </a:extLst>
          </p:cNvPr>
          <p:cNvCxnSpPr>
            <a:cxnSpLocks/>
          </p:cNvCxnSpPr>
          <p:nvPr/>
        </p:nvCxnSpPr>
        <p:spPr>
          <a:xfrm>
            <a:off x="2476500" y="2711450"/>
            <a:ext cx="724535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28251C74-9AB1-B3EB-2B62-EE0AE497EFDD}"/>
              </a:ext>
            </a:extLst>
          </p:cNvPr>
          <p:cNvCxnSpPr>
            <a:cxnSpLocks/>
          </p:cNvCxnSpPr>
          <p:nvPr/>
        </p:nvCxnSpPr>
        <p:spPr>
          <a:xfrm>
            <a:off x="6096000" y="2000250"/>
            <a:ext cx="0" cy="432435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D074F6D-2082-C813-048B-74186274B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6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608566618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73EB5-0BBF-F892-3D9B-B567507C5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7E530-F4D4-E39C-47D0-A3CB18891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sz="4000"/>
              <a:t>Insights Deep-Dive</a:t>
            </a:r>
            <a:endParaRPr lang="en-00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78263C-FAB4-2938-49A3-A944374ED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7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731795324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table with text on it&#10;&#10;AI-generated content may be incorrect.">
            <a:extLst>
              <a:ext uri="{FF2B5EF4-FFF2-40B4-BE49-F238E27FC236}">
                <a16:creationId xmlns:a16="http://schemas.microsoft.com/office/drawing/2014/main" id="{90A4ABA2-ED01-3A9B-7F22-40C2F2C9AF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201" y="561575"/>
            <a:ext cx="6496957" cy="573485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2A2173-A9CD-FFFA-F735-5AD915A55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8</a:t>
            </a:fld>
            <a:endParaRPr lang="en-001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6EFDF8F-D707-B81F-46F1-3D9534D0292E}"/>
                  </a:ext>
                </a:extLst>
              </p14:cNvPr>
              <p14:cNvContentPartPr/>
              <p14:nvPr/>
            </p14:nvContentPartPr>
            <p14:xfrm>
              <a:off x="422968" y="1498230"/>
              <a:ext cx="1469880" cy="3996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6EFDF8F-D707-B81F-46F1-3D9534D0292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8955" y="1390230"/>
                <a:ext cx="1577546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8B88976-D26F-47BA-F156-78D7ED8CA21F}"/>
                  </a:ext>
                </a:extLst>
              </p14:cNvPr>
              <p14:cNvContentPartPr/>
              <p14:nvPr/>
            </p14:nvContentPartPr>
            <p14:xfrm>
              <a:off x="3658288" y="1548630"/>
              <a:ext cx="2980080" cy="316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8B88976-D26F-47BA-F156-78D7ED8CA21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604288" y="1439389"/>
                <a:ext cx="3087720" cy="2497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F83B0931-D7B5-B65F-F1F9-C61D8D52ACC8}"/>
                  </a:ext>
                </a:extLst>
              </p14:cNvPr>
              <p14:cNvContentPartPr/>
              <p14:nvPr/>
            </p14:nvContentPartPr>
            <p14:xfrm>
              <a:off x="433768" y="2252790"/>
              <a:ext cx="2807640" cy="5148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F83B0931-D7B5-B65F-F1F9-C61D8D52ACC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79768" y="2144790"/>
                <a:ext cx="2915280" cy="26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117B252-34FE-D7C1-835A-36A8FEBFD7A1}"/>
                  </a:ext>
                </a:extLst>
              </p14:cNvPr>
              <p14:cNvContentPartPr/>
              <p14:nvPr/>
            </p14:nvContentPartPr>
            <p14:xfrm>
              <a:off x="3659368" y="2286990"/>
              <a:ext cx="3033360" cy="4464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117B252-34FE-D7C1-835A-36A8FEBFD7A1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605368" y="2178990"/>
                <a:ext cx="3141000" cy="26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10E693E9-DB91-7F0C-3342-9994D02DB55B}"/>
                  </a:ext>
                </a:extLst>
              </p14:cNvPr>
              <p14:cNvContentPartPr/>
              <p14:nvPr/>
            </p14:nvContentPartPr>
            <p14:xfrm>
              <a:off x="3800488" y="3832110"/>
              <a:ext cx="2832120" cy="28440"/>
            </p14:xfrm>
          </p:contentPart>
        </mc:Choice>
        <mc:Fallback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10E693E9-DB91-7F0C-3342-9994D02DB55B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3746488" y="3724110"/>
                <a:ext cx="2939760" cy="244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9DA96F3-8FE0-FC63-CBB7-FB5F22A98AD5}"/>
                  </a:ext>
                </a:extLst>
              </p14:cNvPr>
              <p14:cNvContentPartPr/>
              <p14:nvPr/>
            </p14:nvContentPartPr>
            <p14:xfrm>
              <a:off x="403888" y="3771990"/>
              <a:ext cx="2010960" cy="50400"/>
            </p14:xfrm>
          </p:contentPart>
        </mc:Choice>
        <mc:Fallback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9DA96F3-8FE0-FC63-CBB7-FB5F22A98AD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349888" y="3663990"/>
                <a:ext cx="2118600" cy="266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2F045CA5-7360-17B0-91D9-B8715D262BD4}"/>
                  </a:ext>
                </a:extLst>
              </p14:cNvPr>
              <p14:cNvContentPartPr/>
              <p14:nvPr/>
            </p14:nvContentPartPr>
            <p14:xfrm>
              <a:off x="407848" y="4125150"/>
              <a:ext cx="2274480" cy="7092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2F045CA5-7360-17B0-91D9-B8715D262BD4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53839" y="4017150"/>
                <a:ext cx="2382137" cy="286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3FCE4D6-73E2-FAA6-E1F7-86C9958C5FAB}"/>
                  </a:ext>
                </a:extLst>
              </p14:cNvPr>
              <p14:cNvContentPartPr/>
              <p14:nvPr/>
            </p14:nvContentPartPr>
            <p14:xfrm>
              <a:off x="3855208" y="4173390"/>
              <a:ext cx="2867040" cy="79920"/>
            </p14:xfrm>
          </p:contentPart>
        </mc:Choice>
        <mc:Fallback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3FCE4D6-73E2-FAA6-E1F7-86C9958C5FAB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3801215" y="4065390"/>
                <a:ext cx="2974666" cy="295560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B8D5AA7C-31B6-B0EA-4C52-A8EBDBB29C33}"/>
              </a:ext>
            </a:extLst>
          </p:cNvPr>
          <p:cNvSpPr txBox="1"/>
          <p:nvPr/>
        </p:nvSpPr>
        <p:spPr>
          <a:xfrm>
            <a:off x="174432" y="101540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Significant Differences in Campaign Performance: Overview</a:t>
            </a:r>
            <a:endParaRPr lang="en-001" sz="20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798B4E2-A31B-7775-20F3-236E5EE57C88}"/>
              </a:ext>
            </a:extLst>
          </p:cNvPr>
          <p:cNvSpPr txBox="1"/>
          <p:nvPr/>
        </p:nvSpPr>
        <p:spPr>
          <a:xfrm>
            <a:off x="7805488" y="2433162"/>
            <a:ext cx="364263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GB" sz="1400" dirty="0"/>
              <a:t>We noted statistically significant differences across campaigns noted by performance differences in CTR, </a:t>
            </a:r>
            <a:r>
              <a:rPr lang="en-GB" sz="1400" dirty="0" err="1"/>
              <a:t>Sginup</a:t>
            </a:r>
            <a:r>
              <a:rPr lang="en-GB" sz="1400" dirty="0"/>
              <a:t> Rate, and CPS. </a:t>
            </a:r>
            <a:r>
              <a:rPr lang="en-GB" sz="1400" b="1" dirty="0"/>
              <a:t>Each marketing campaign increases brand awareness and generates signups to a varying extent.</a:t>
            </a:r>
          </a:p>
          <a:p>
            <a:pPr algn="just"/>
            <a:endParaRPr lang="en-GB" sz="1400" b="1" dirty="0"/>
          </a:p>
          <a:p>
            <a:pPr algn="just"/>
            <a:r>
              <a:rPr lang="en-GB" sz="1400" b="1" dirty="0"/>
              <a:t>4 campaigns generate 83% of all Signups: </a:t>
            </a:r>
            <a:r>
              <a:rPr lang="en-GB" sz="1400" dirty="0"/>
              <a:t>Health For All, Compare Health Coverage, #CoverageMatters, and #HealthyLiving.</a:t>
            </a:r>
            <a:endParaRPr lang="en-001" sz="1400" dirty="0"/>
          </a:p>
        </p:txBody>
      </p:sp>
    </p:spTree>
    <p:extLst>
      <p:ext uri="{BB962C8B-B14F-4D97-AF65-F5344CB8AC3E}">
        <p14:creationId xmlns:p14="http://schemas.microsoft.com/office/powerpoint/2010/main" val="299520204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7C692E-350D-F33D-D22C-47E787FF9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9</a:t>
            </a:fld>
            <a:endParaRPr lang="en-001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95DACC-5E57-2F9F-AE53-351AD8600B46}"/>
              </a:ext>
            </a:extLst>
          </p:cNvPr>
          <p:cNvSpPr txBox="1"/>
          <p:nvPr/>
        </p:nvSpPr>
        <p:spPr>
          <a:xfrm>
            <a:off x="174432" y="119549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Significant Differences within Campaigns: </a:t>
            </a:r>
            <a:r>
              <a:rPr lang="en-GB" sz="2000" b="1" u="sng" dirty="0"/>
              <a:t>2 Generate both, Clicks &amp; Signups</a:t>
            </a:r>
            <a:endParaRPr lang="en-001" sz="2000" b="1" u="sng" dirty="0"/>
          </a:p>
        </p:txBody>
      </p:sp>
      <p:pic>
        <p:nvPicPr>
          <p:cNvPr id="4" name="Picture 3" descr="A white background with black text and green dots&#10;&#10;AI-generated content may be incorrect.">
            <a:extLst>
              <a:ext uri="{FF2B5EF4-FFF2-40B4-BE49-F238E27FC236}">
                <a16:creationId xmlns:a16="http://schemas.microsoft.com/office/drawing/2014/main" id="{2B98A61F-650E-3E41-54A9-B4541B9EC5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432" y="519659"/>
            <a:ext cx="11843133" cy="581868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29435A-5F09-AF69-0E40-8AFE833E5880}"/>
              </a:ext>
            </a:extLst>
          </p:cNvPr>
          <p:cNvSpPr txBox="1"/>
          <p:nvPr/>
        </p:nvSpPr>
        <p:spPr>
          <a:xfrm>
            <a:off x="8257735" y="1266092"/>
            <a:ext cx="3601330" cy="1015663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GB" sz="1200" b="1" dirty="0"/>
              <a:t>Health for All was outright best performer</a:t>
            </a:r>
            <a:r>
              <a:rPr lang="en-GB" sz="1200" dirty="0"/>
              <a:t> to increase brand awareness &amp; generate signups. Within this campaign, </a:t>
            </a:r>
            <a:r>
              <a:rPr lang="en-GB" sz="1200" b="1" dirty="0"/>
              <a:t>Health Awareness type campaigns generated an extraordinary 37% CTR</a:t>
            </a:r>
            <a:r>
              <a:rPr lang="en-GB" sz="1200" dirty="0"/>
              <a:t>.</a:t>
            </a:r>
            <a:endParaRPr lang="en-001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6ACD12-C1FC-6ECF-206D-E98052E4EE7D}"/>
              </a:ext>
            </a:extLst>
          </p:cNvPr>
          <p:cNvSpPr txBox="1"/>
          <p:nvPr/>
        </p:nvSpPr>
        <p:spPr>
          <a:xfrm>
            <a:off x="1772531" y="1773923"/>
            <a:ext cx="3601330" cy="830997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GB" sz="1200" b="1" dirty="0"/>
              <a:t>Compare Health Coverage</a:t>
            </a:r>
            <a:r>
              <a:rPr lang="en-GB" sz="1200" dirty="0"/>
              <a:t> also had higher-than-average CTR &amp; Signup Rate, </a:t>
            </a:r>
            <a:r>
              <a:rPr lang="en-GB" sz="1200" b="1" dirty="0"/>
              <a:t>positively impacting both, brand awareness &amp; signups.</a:t>
            </a:r>
            <a:endParaRPr lang="en-001" sz="1200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2105658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43E2E-987C-97C5-258C-F0C67401C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CA3DBD-6DF5-6D88-7B87-273EBC086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10</a:t>
            </a:fld>
            <a:endParaRPr lang="en-00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50E8D-459E-F2EC-7A7D-A1B30CE23178}"/>
              </a:ext>
            </a:extLst>
          </p:cNvPr>
          <p:cNvSpPr txBox="1"/>
          <p:nvPr/>
        </p:nvSpPr>
        <p:spPr>
          <a:xfrm>
            <a:off x="174433" y="112552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Significant Differences within Campaigns: </a:t>
            </a:r>
            <a:r>
              <a:rPr lang="en-GB" sz="2000" b="1" u="sng" dirty="0"/>
              <a:t>3 Effectively Generate Signups</a:t>
            </a:r>
            <a:endParaRPr lang="en-001" sz="2000" b="1" u="sng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9AC9FF4-DB04-D5F9-BE38-FAD9ECF093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432" y="525165"/>
            <a:ext cx="11843133" cy="58186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5E0E4D4-B408-54A0-DAA1-DF5246DCC17C}"/>
              </a:ext>
            </a:extLst>
          </p:cNvPr>
          <p:cNvSpPr txBox="1"/>
          <p:nvPr/>
        </p:nvSpPr>
        <p:spPr>
          <a:xfrm>
            <a:off x="5352757" y="4121834"/>
            <a:ext cx="4325815" cy="830997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GB" sz="1200" b="1" dirty="0"/>
              <a:t>#Coverage Matters, #HealthyLiving, and Tailored Health Plans</a:t>
            </a:r>
            <a:r>
              <a:rPr lang="en-GB" sz="1200" dirty="0"/>
              <a:t> have high signup rates and low CTR, indicating that they </a:t>
            </a:r>
            <a:r>
              <a:rPr lang="en-GB" sz="1200" b="1" dirty="0"/>
              <a:t>generate signups without increasing awareness</a:t>
            </a:r>
            <a:r>
              <a:rPr lang="en-GB" sz="1200" dirty="0"/>
              <a:t>.</a:t>
            </a:r>
            <a:endParaRPr lang="en-001" sz="1200" b="1" dirty="0"/>
          </a:p>
        </p:txBody>
      </p:sp>
    </p:spTree>
    <p:extLst>
      <p:ext uri="{BB962C8B-B14F-4D97-AF65-F5344CB8AC3E}">
        <p14:creationId xmlns:p14="http://schemas.microsoft.com/office/powerpoint/2010/main" val="3224291638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0EDAC-A0FD-D5AA-7F7F-CEC407D55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47B4DF-FAD5-24E2-DEF7-D24DAE07D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11</a:t>
            </a:fld>
            <a:endParaRPr lang="en-001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C883BE-07EF-8141-9152-73E781C335A4}"/>
              </a:ext>
            </a:extLst>
          </p:cNvPr>
          <p:cNvSpPr txBox="1"/>
          <p:nvPr/>
        </p:nvSpPr>
        <p:spPr>
          <a:xfrm>
            <a:off x="174432" y="119549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Significant Differences within Campaigns: </a:t>
            </a:r>
            <a:r>
              <a:rPr lang="en-GB" sz="2000" b="1" u="sng" dirty="0"/>
              <a:t>4 Effectively Generate Clicks</a:t>
            </a:r>
            <a:endParaRPr lang="en-001" sz="2000" b="1" u="sng" dirty="0"/>
          </a:p>
        </p:txBody>
      </p:sp>
      <p:pic>
        <p:nvPicPr>
          <p:cNvPr id="5" name="Picture 4" descr="A white background with green and grey dots&#10;&#10;AI-generated content may be incorrect.">
            <a:extLst>
              <a:ext uri="{FF2B5EF4-FFF2-40B4-BE49-F238E27FC236}">
                <a16:creationId xmlns:a16="http://schemas.microsoft.com/office/drawing/2014/main" id="{60F82279-40E4-62D9-058F-E7F2DEF611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434" y="519659"/>
            <a:ext cx="11843133" cy="58186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D8EB357-9869-4410-B076-BA7D5E650CC0}"/>
              </a:ext>
            </a:extLst>
          </p:cNvPr>
          <p:cNvSpPr txBox="1"/>
          <p:nvPr/>
        </p:nvSpPr>
        <p:spPr>
          <a:xfrm>
            <a:off x="3214468" y="787791"/>
            <a:ext cx="3601329" cy="1015663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GB" sz="1200" b="1" dirty="0"/>
              <a:t>Benefit Updates, Summer Wellness Tips, Affordable Plans, and Preventive Care News increase brand awareness</a:t>
            </a:r>
            <a:r>
              <a:rPr lang="en-GB" sz="1200" dirty="0"/>
              <a:t> with high CTR despite generating few signups. </a:t>
            </a:r>
            <a:r>
              <a:rPr lang="en-GB" sz="1200" b="1" dirty="0"/>
              <a:t>Benefit Updates is 2</a:t>
            </a:r>
            <a:r>
              <a:rPr lang="en-GB" sz="1200" b="1" baseline="30000" dirty="0"/>
              <a:t>nd</a:t>
            </a:r>
            <a:r>
              <a:rPr lang="en-GB" sz="1200" b="1" dirty="0"/>
              <a:t> highest in CTR.</a:t>
            </a:r>
            <a:endParaRPr lang="en-001" sz="1200" dirty="0"/>
          </a:p>
        </p:txBody>
      </p:sp>
    </p:spTree>
    <p:extLst>
      <p:ext uri="{BB962C8B-B14F-4D97-AF65-F5344CB8AC3E}">
        <p14:creationId xmlns:p14="http://schemas.microsoft.com/office/powerpoint/2010/main" val="1648561901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C24C4-AF22-AE33-4543-C1ADEF445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F89ED2-1882-DB71-3A00-A34CEE934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12</a:t>
            </a:fld>
            <a:endParaRPr lang="en-001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8850C2-2E1F-7094-6809-514B590B9732}"/>
              </a:ext>
            </a:extLst>
          </p:cNvPr>
          <p:cNvSpPr txBox="1"/>
          <p:nvPr/>
        </p:nvSpPr>
        <p:spPr>
          <a:xfrm>
            <a:off x="174433" y="119549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Significant Differences within Campaigns: </a:t>
            </a:r>
            <a:r>
              <a:rPr lang="en-GB" sz="2000" b="1" u="sng" dirty="0"/>
              <a:t>2 Fail to Generate Clicks or Signups</a:t>
            </a:r>
            <a:endParaRPr lang="en-001" sz="2000" b="1" u="sng" dirty="0"/>
          </a:p>
        </p:txBody>
      </p:sp>
      <p:pic>
        <p:nvPicPr>
          <p:cNvPr id="5" name="Picture 4" descr="A white background with green dots and numbers&#10;&#10;AI-generated content may be incorrect.">
            <a:extLst>
              <a:ext uri="{FF2B5EF4-FFF2-40B4-BE49-F238E27FC236}">
                <a16:creationId xmlns:a16="http://schemas.microsoft.com/office/drawing/2014/main" id="{7652550B-1D0B-94F3-47E1-CC360D5A6D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434" y="519659"/>
            <a:ext cx="11843133" cy="58186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4CAB61F-4501-FD22-F463-4EEBC6F9E9CD}"/>
              </a:ext>
            </a:extLst>
          </p:cNvPr>
          <p:cNvSpPr txBox="1"/>
          <p:nvPr/>
        </p:nvSpPr>
        <p:spPr>
          <a:xfrm>
            <a:off x="3207434" y="4149969"/>
            <a:ext cx="3587261" cy="1384995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GB" sz="1200" b="1" dirty="0"/>
              <a:t>Black sheep of marketing campaigns: #InsureYourHealth &amp; Golden Years Security</a:t>
            </a:r>
            <a:r>
              <a:rPr lang="en-GB" sz="1200" dirty="0"/>
              <a:t> fail to increase brand awareness or to generate signups, with low CTR &amp; low Signup Rate! </a:t>
            </a:r>
            <a:r>
              <a:rPr lang="en-GB" sz="1200" b="1" dirty="0"/>
              <a:t>Golden Years Security is outright worst performer</a:t>
            </a:r>
            <a:r>
              <a:rPr lang="en-GB" sz="1200" dirty="0"/>
              <a:t> with 1% CTR &amp; 0.4% Signup Rate</a:t>
            </a:r>
            <a:r>
              <a:rPr lang="en-GB" sz="1200" b="1" dirty="0"/>
              <a:t>.</a:t>
            </a:r>
            <a:endParaRPr lang="en-001" sz="1200" b="1" dirty="0"/>
          </a:p>
        </p:txBody>
      </p:sp>
    </p:spTree>
    <p:extLst>
      <p:ext uri="{BB962C8B-B14F-4D97-AF65-F5344CB8AC3E}">
        <p14:creationId xmlns:p14="http://schemas.microsoft.com/office/powerpoint/2010/main" val="4285441007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3E4B21-6385-F14C-AB16-6E9C647E2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40A4FD-EEE2-2C56-70B5-BE53D05A3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13</a:t>
            </a:fld>
            <a:endParaRPr lang="en-001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E4B69C-0DC5-4C2E-3BD0-A416E9B56E0C}"/>
              </a:ext>
            </a:extLst>
          </p:cNvPr>
          <p:cNvSpPr txBox="1"/>
          <p:nvPr/>
        </p:nvSpPr>
        <p:spPr>
          <a:xfrm>
            <a:off x="174433" y="91636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Campaign Resource Use: Effective by Best Performers, Ineffective by Worst Performers</a:t>
            </a:r>
            <a:endParaRPr lang="en-001" sz="2000" b="1"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DFE477A-0A06-5552-1857-AD6E3B54D4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433" y="514707"/>
            <a:ext cx="11843133" cy="581868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EA3DCE-247F-471F-5E41-9C79DD8BA019}"/>
              </a:ext>
            </a:extLst>
          </p:cNvPr>
          <p:cNvSpPr txBox="1"/>
          <p:nvPr/>
        </p:nvSpPr>
        <p:spPr>
          <a:xfrm>
            <a:off x="7547317" y="1252025"/>
            <a:ext cx="2876843" cy="646331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GB" sz="1200" b="1" dirty="0"/>
              <a:t>Total spend for 3 high performers = $8k</a:t>
            </a:r>
            <a:r>
              <a:rPr lang="en-GB" sz="1200" dirty="0"/>
              <a:t> (Health For All, Benefit Updates, #CoverageMatters).</a:t>
            </a:r>
            <a:endParaRPr lang="en-001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E04D91-7166-5787-04C1-266DE9988CA8}"/>
              </a:ext>
            </a:extLst>
          </p:cNvPr>
          <p:cNvSpPr txBox="1"/>
          <p:nvPr/>
        </p:nvSpPr>
        <p:spPr>
          <a:xfrm>
            <a:off x="3552092" y="3992856"/>
            <a:ext cx="2867465" cy="156966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GB" sz="1200" b="1" dirty="0"/>
              <a:t>Total spend for 2 worst performers = $11k </a:t>
            </a:r>
            <a:r>
              <a:rPr lang="en-GB" sz="1200" dirty="0"/>
              <a:t>(#InsureYourHealth, Golden Years Security). Suggests poor performance despite high resource allocation, and that </a:t>
            </a:r>
            <a:r>
              <a:rPr lang="en-GB" sz="1200" b="1" dirty="0"/>
              <a:t>resources are not allocated according to performance.</a:t>
            </a:r>
            <a:endParaRPr lang="en-001" sz="1200" b="1" dirty="0"/>
          </a:p>
        </p:txBody>
      </p:sp>
    </p:spTree>
    <p:extLst>
      <p:ext uri="{BB962C8B-B14F-4D97-AF65-F5344CB8AC3E}">
        <p14:creationId xmlns:p14="http://schemas.microsoft.com/office/powerpoint/2010/main" val="2596195918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CEA2C0E-013D-A2B6-9615-836A79A38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14</a:t>
            </a:fld>
            <a:endParaRPr lang="en-00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70CD39-5333-3025-2DB4-B779ED16001D}"/>
              </a:ext>
            </a:extLst>
          </p:cNvPr>
          <p:cNvSpPr txBox="1"/>
          <p:nvPr/>
        </p:nvSpPr>
        <p:spPr>
          <a:xfrm>
            <a:off x="174433" y="119549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New Signups per Month Peaked during Pandemic across Most Campaign Categories</a:t>
            </a:r>
            <a:endParaRPr lang="en-001" sz="2000" b="1" dirty="0"/>
          </a:p>
        </p:txBody>
      </p:sp>
      <p:pic>
        <p:nvPicPr>
          <p:cNvPr id="6" name="Picture 5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FB760118-888C-8233-EDCA-260F1B4FC2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13" y="519659"/>
            <a:ext cx="12003175" cy="58186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76C5841-49B7-59AF-682B-5558D12534FF}"/>
              </a:ext>
            </a:extLst>
          </p:cNvPr>
          <p:cNvSpPr txBox="1"/>
          <p:nvPr/>
        </p:nvSpPr>
        <p:spPr>
          <a:xfrm>
            <a:off x="9692640" y="2686929"/>
            <a:ext cx="2166425" cy="1200329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GB" sz="1200" dirty="0"/>
              <a:t>Nearly all campaigns peaked in generating signups in early 2020. A </a:t>
            </a:r>
            <a:r>
              <a:rPr lang="en-GB" sz="1200" b="1" dirty="0"/>
              <a:t>slow decline since then has continued to pre-pandemic levels in 2023.</a:t>
            </a:r>
            <a:endParaRPr lang="en-001" sz="1200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700801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AF08DA-FC56-F0E1-4AB4-895DCB623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15</a:t>
            </a:fld>
            <a:endParaRPr lang="en-001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87F570-4604-E341-4A8C-8975737E7C09}"/>
              </a:ext>
            </a:extLst>
          </p:cNvPr>
          <p:cNvSpPr txBox="1"/>
          <p:nvPr/>
        </p:nvSpPr>
        <p:spPr>
          <a:xfrm>
            <a:off x="174433" y="101540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Compare Health Coverage Peaked Later &amp; Fell Sharply in mid-2022</a:t>
            </a:r>
            <a:endParaRPr lang="en-001" sz="2000" b="1" dirty="0"/>
          </a:p>
        </p:txBody>
      </p:sp>
      <p:pic>
        <p:nvPicPr>
          <p:cNvPr id="6" name="Picture 5" descr="A graph of a graph&#10;&#10;AI-generated content may be incorrect.">
            <a:extLst>
              <a:ext uri="{FF2B5EF4-FFF2-40B4-BE49-F238E27FC236}">
                <a16:creationId xmlns:a16="http://schemas.microsoft.com/office/drawing/2014/main" id="{B0D63CFA-33E6-F925-72EB-FBCD4B1D8B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13" y="519659"/>
            <a:ext cx="12003175" cy="581868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F07C0D5-9511-93E1-F0D3-E6986810960D}"/>
              </a:ext>
            </a:extLst>
          </p:cNvPr>
          <p:cNvSpPr txBox="1"/>
          <p:nvPr/>
        </p:nvSpPr>
        <p:spPr>
          <a:xfrm>
            <a:off x="9706708" y="2672862"/>
            <a:ext cx="2159390" cy="156966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GB" sz="1200" dirty="0"/>
              <a:t>Your eyes are not deceiving you: </a:t>
            </a:r>
            <a:r>
              <a:rPr lang="en-GB" sz="1200" b="1" dirty="0"/>
              <a:t>Compare Health Coverage showed a different trend</a:t>
            </a:r>
            <a:r>
              <a:rPr lang="en-GB" sz="1200" dirty="0"/>
              <a:t> to other campaigns, with a peak in early 2021 and a sharp fall in mid-2022.</a:t>
            </a:r>
            <a:endParaRPr lang="en-001" sz="1200" dirty="0"/>
          </a:p>
        </p:txBody>
      </p:sp>
    </p:spTree>
    <p:extLst>
      <p:ext uri="{BB962C8B-B14F-4D97-AF65-F5344CB8AC3E}">
        <p14:creationId xmlns:p14="http://schemas.microsoft.com/office/powerpoint/2010/main" val="780911673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65C5D7-67CC-CEED-1478-3D8F53482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16</a:t>
            </a:fld>
            <a:endParaRPr lang="en-001" dirty="0"/>
          </a:p>
        </p:txBody>
      </p:sp>
      <p:pic>
        <p:nvPicPr>
          <p:cNvPr id="4" name="Picture 3" descr="A graph of green and orange lines&#10;&#10;AI-generated content may be incorrect.">
            <a:extLst>
              <a:ext uri="{FF2B5EF4-FFF2-40B4-BE49-F238E27FC236}">
                <a16:creationId xmlns:a16="http://schemas.microsoft.com/office/drawing/2014/main" id="{B27235EC-D718-1BB0-11B9-8CC9A92BF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307" y="519659"/>
            <a:ext cx="11717385" cy="58186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B7F8574-A73B-03B9-B81F-EB278E62A633}"/>
              </a:ext>
            </a:extLst>
          </p:cNvPr>
          <p:cNvSpPr txBox="1"/>
          <p:nvPr/>
        </p:nvSpPr>
        <p:spPr>
          <a:xfrm>
            <a:off x="174432" y="101540"/>
            <a:ext cx="118431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000" b="1" dirty="0"/>
              <a:t>Customer Testimonial Campaign Type Drove Compare Health Coverage Peak &amp; Fall</a:t>
            </a:r>
            <a:endParaRPr lang="en-001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5BEC66-90BC-4879-9770-5FA1DC93F2B7}"/>
              </a:ext>
            </a:extLst>
          </p:cNvPr>
          <p:cNvSpPr txBox="1"/>
          <p:nvPr/>
        </p:nvSpPr>
        <p:spPr>
          <a:xfrm>
            <a:off x="8285871" y="2665828"/>
            <a:ext cx="36083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/>
              <a:t>New signups from Customer Testimonial type campaigns within Compare Health Coverage also </a:t>
            </a:r>
            <a:r>
              <a:rPr lang="en-GB" sz="1200" b="1" dirty="0"/>
              <a:t>peaked in early-2021 and fell sharply in mid-2022</a:t>
            </a:r>
            <a:r>
              <a:rPr lang="en-GB" sz="1200" dirty="0"/>
              <a:t>. Happens to be </a:t>
            </a:r>
            <a:r>
              <a:rPr lang="en-GB" sz="1200" b="1" dirty="0"/>
              <a:t>among the cheapest campaign types to generate new signups with a low CPS of $1.8</a:t>
            </a:r>
            <a:r>
              <a:rPr lang="en-GB" sz="1200" dirty="0"/>
              <a:t> despite Compare Health Coverage costing $10k overall </a:t>
            </a:r>
            <a:r>
              <a:rPr lang="en-GB" sz="1200" dirty="0">
                <a:hlinkClick r:id="rId4" action="ppaction://hlinksldjump"/>
              </a:rPr>
              <a:t>(see appendix)</a:t>
            </a:r>
            <a:r>
              <a:rPr lang="en-GB" sz="1200" dirty="0"/>
              <a:t>.</a:t>
            </a:r>
            <a:endParaRPr lang="en-001" sz="1200" dirty="0"/>
          </a:p>
        </p:txBody>
      </p:sp>
    </p:spTree>
    <p:extLst>
      <p:ext uri="{BB962C8B-B14F-4D97-AF65-F5344CB8AC3E}">
        <p14:creationId xmlns:p14="http://schemas.microsoft.com/office/powerpoint/2010/main" val="1984340969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767FA-2950-5228-EEE9-046C20C54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AD2A2-DA9C-B93D-4711-7643D7D0D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sz="4000" dirty="0"/>
              <a:t>Recommendations &amp; Next Steps</a:t>
            </a:r>
            <a:endParaRPr lang="en-00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5A86E4-33F7-E861-0F0A-81B09DDA2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17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3021169027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0A9CE-B201-BB58-4FC0-95B9BD288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Key recommendations</a:t>
            </a:r>
            <a:endParaRPr lang="en-001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E63174-3F77-25DA-53BA-4B7DBC9EED1C}"/>
              </a:ext>
            </a:extLst>
          </p:cNvPr>
          <p:cNvSpPr txBox="1"/>
          <p:nvPr/>
        </p:nvSpPr>
        <p:spPr>
          <a:xfrm>
            <a:off x="838200" y="2148573"/>
            <a:ext cx="10515600" cy="38305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indent="0" algn="just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2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ctr">
              <a:lnSpc>
                <a:spcPct val="120000"/>
              </a:lnSpc>
            </a:pPr>
            <a:r>
              <a:rPr lang="en-GB" sz="1800" dirty="0"/>
              <a:t>Increase Awareness &amp; Signups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b="1" dirty="0"/>
              <a:t>Reallocate Marketing Budget</a:t>
            </a:r>
            <a:r>
              <a:rPr lang="en-GB" dirty="0"/>
              <a:t>: Shift budget from Golden Years Security &amp; #InsureYourHealth to Health For All &amp; Compare Health Coverage campaigns. This leads to a </a:t>
            </a:r>
            <a:r>
              <a:rPr lang="en-GB" sz="1400" b="1" dirty="0"/>
              <a:t>17% boost in CTR</a:t>
            </a:r>
            <a:r>
              <a:rPr lang="en-GB" dirty="0"/>
              <a:t> and a </a:t>
            </a:r>
            <a:r>
              <a:rPr lang="en-GB" sz="1400" b="1" dirty="0"/>
              <a:t>13% boost in signup rate</a:t>
            </a:r>
            <a:r>
              <a:rPr lang="en-GB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b="1" dirty="0"/>
              <a:t>Expand Customer Testimonials</a:t>
            </a:r>
            <a:r>
              <a:rPr lang="en-GB" dirty="0"/>
              <a:t>: High CTR of 31%, Signup Rate of 3.5%, and low CPS of $1.8 within Compare Health Coverage shows immense potential. Expand campaign type to </a:t>
            </a:r>
            <a:r>
              <a:rPr lang="en-GB" b="1" dirty="0"/>
              <a:t>Health For All, Coverage Matters, and Healthy Living</a:t>
            </a:r>
            <a:r>
              <a:rPr lang="en-GB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b="1" dirty="0"/>
              <a:t>Investigate Category-Type Pairs</a:t>
            </a:r>
            <a:r>
              <a:rPr lang="en-GB" dirty="0"/>
              <a:t>: Like with Compare Health Coverage &amp; Customer Testimonials, </a:t>
            </a:r>
            <a:r>
              <a:rPr lang="en-GB" b="1" dirty="0"/>
              <a:t>dive deeper into copy types that work best with specific campaigns</a:t>
            </a:r>
            <a:r>
              <a:rPr lang="en-GB" dirty="0"/>
              <a:t> together with the marketing team (see </a:t>
            </a:r>
            <a:r>
              <a:rPr lang="en-GB" dirty="0">
                <a:hlinkClick r:id="rId4" action="ppaction://hlinksldjump"/>
              </a:rPr>
              <a:t>appendix</a:t>
            </a:r>
            <a:r>
              <a:rPr lang="en-GB" dirty="0"/>
              <a:t>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b="1" dirty="0"/>
              <a:t>Consider Plan Modifications</a:t>
            </a:r>
            <a:r>
              <a:rPr lang="en-GB" dirty="0"/>
              <a:t>: High CPS ($491) and few customers (12) for platinum plan ($491); average CTR (11%) &amp; low signup rate (0.2%) for bronze plan. Consider </a:t>
            </a:r>
            <a:r>
              <a:rPr lang="en-GB" b="1" dirty="0"/>
              <a:t>eliminating platinum plan</a:t>
            </a:r>
            <a:r>
              <a:rPr lang="en-GB" dirty="0"/>
              <a:t> due to few signups &amp; </a:t>
            </a:r>
            <a:r>
              <a:rPr lang="en-GB" b="1" dirty="0"/>
              <a:t>improving bronze plan </a:t>
            </a:r>
            <a:r>
              <a:rPr lang="en-GB" dirty="0"/>
              <a:t>if desirable.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B9327-276E-9596-073D-05890669DDB8}"/>
              </a:ext>
            </a:extLst>
          </p:cNvPr>
          <p:cNvSpPr txBox="1"/>
          <p:nvPr/>
        </p:nvSpPr>
        <p:spPr>
          <a:xfrm>
            <a:off x="838200" y="1771353"/>
            <a:ext cx="10515600" cy="2965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200" dirty="0"/>
              <a:t>Recommendations either propose to </a:t>
            </a:r>
            <a:r>
              <a:rPr lang="en-GB" sz="1200" b="1" dirty="0"/>
              <a:t>improve resource allocation</a:t>
            </a:r>
            <a:r>
              <a:rPr lang="en-GB" sz="1200" dirty="0"/>
              <a:t> or </a:t>
            </a:r>
            <a:r>
              <a:rPr lang="en-GB" sz="1200" b="1" dirty="0"/>
              <a:t>adjust marketing &amp; product strategies</a:t>
            </a:r>
            <a:r>
              <a:rPr lang="en-GB" sz="1200" dirty="0"/>
              <a:t> for efficiency gains.</a:t>
            </a:r>
            <a:endParaRPr lang="en-001" sz="1200" b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9B6C428-FCDA-F934-15A7-0E9AD52870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18</a:t>
            </a:fld>
            <a:endParaRPr lang="en-001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1374419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uiExpand="1" build="p"/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93823-F914-B8FF-7F05-DB966954C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Caveats &amp; next steps</a:t>
            </a:r>
            <a:endParaRPr lang="en-001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BE656E-B7BE-FB7D-0FD7-DBADEAAC7E99}"/>
              </a:ext>
            </a:extLst>
          </p:cNvPr>
          <p:cNvSpPr txBox="1"/>
          <p:nvPr/>
        </p:nvSpPr>
        <p:spPr>
          <a:xfrm>
            <a:off x="838200" y="1690688"/>
            <a:ext cx="1051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To improve analysis, we recommend the following:</a:t>
            </a:r>
            <a:endParaRPr lang="en-00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225148-161C-1D2E-889D-A57C1FC2B8AA}"/>
              </a:ext>
            </a:extLst>
          </p:cNvPr>
          <p:cNvSpPr txBox="1"/>
          <p:nvPr/>
        </p:nvSpPr>
        <p:spPr>
          <a:xfrm>
            <a:off x="838200" y="2305580"/>
            <a:ext cx="10515600" cy="3385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200" b="1" dirty="0"/>
              <a:t>Address Data Quality Issues (Data Engineering Team Collaboration):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Family Coverage Plan had no data on clicks.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49 (0.3%) customer signups were not linked to any campaign.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Combining data from separate tables creates nulls in new dimensions.</a:t>
            </a:r>
          </a:p>
          <a:p>
            <a:pPr>
              <a:lnSpc>
                <a:spcPct val="150000"/>
              </a:lnSpc>
            </a:pPr>
            <a:endParaRPr lang="en-GB" sz="1200" dirty="0"/>
          </a:p>
          <a:p>
            <a:pPr>
              <a:lnSpc>
                <a:spcPct val="150000"/>
              </a:lnSpc>
            </a:pPr>
            <a:r>
              <a:rPr lang="en-GB" sz="1200" b="1" dirty="0"/>
              <a:t>Add Dimensions to Improve Analysis (Marketing Team Collaboration):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Campaign start &amp; end dates to link campaign performance with spend over time.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First Touch to link marketing channels to signups.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Customer Claims to explore links between campaign types and claim amount &amp; categories.</a:t>
            </a:r>
          </a:p>
          <a:p>
            <a:pPr>
              <a:lnSpc>
                <a:spcPct val="150000"/>
              </a:lnSpc>
            </a:pPr>
            <a:endParaRPr lang="en-GB" sz="1200" dirty="0"/>
          </a:p>
          <a:p>
            <a:pPr>
              <a:lnSpc>
                <a:spcPct val="150000"/>
              </a:lnSpc>
            </a:pPr>
            <a:r>
              <a:rPr lang="en-GB" sz="1200" b="1" dirty="0"/>
              <a:t>Explore Dashboard for Self-Serve Insights: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Uncover specific insights &amp; visualise trends using </a:t>
            </a:r>
            <a:r>
              <a:rPr lang="en-GB" sz="1200" dirty="0">
                <a:hlinkClick r:id="rId3"/>
              </a:rPr>
              <a:t>Tableau Dashboard here</a:t>
            </a:r>
            <a:r>
              <a:rPr lang="en-GB" sz="1200" dirty="0"/>
              <a:t>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423B23-5555-5161-F7FA-E9CC8B5AB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19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1877827607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B27103-EDF3-1464-0BE0-6699E5352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91A6A-2104-6D45-692B-64A9FFC2E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sz="4000" dirty="0"/>
              <a:t>Thank You</a:t>
            </a:r>
            <a:endParaRPr lang="en-00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5A055F-663F-9D9F-6E9E-D6061E7ED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20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985017962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2C11E-4DC9-9DBE-4904-B9F1E08EE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388D9-DBBC-7776-F962-FE297B9C8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sz="4000" dirty="0"/>
              <a:t>Appendix</a:t>
            </a:r>
            <a:endParaRPr lang="en-00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6F3C667-18CD-D378-D143-AAC6EA2AD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21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187452733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C10E7-6F2C-8A73-AB37-1A287A3A3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dirty="0"/>
              <a:t>Technical Process</a:t>
            </a:r>
            <a:endParaRPr lang="en-001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C9465B-99FB-B982-640C-D0106F2403D8}"/>
              </a:ext>
            </a:extLst>
          </p:cNvPr>
          <p:cNvSpPr txBox="1"/>
          <p:nvPr/>
        </p:nvSpPr>
        <p:spPr>
          <a:xfrm>
            <a:off x="838200" y="1892300"/>
            <a:ext cx="10515600" cy="449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200" b="1" dirty="0"/>
              <a:t>Dataset stats: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16,338 customer records analysed across 49,998 claims and 57 campaigns.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Time period under consideration – signups from Jan 2019 to Jul 2023.</a:t>
            </a:r>
          </a:p>
          <a:p>
            <a:pPr>
              <a:lnSpc>
                <a:spcPct val="150000"/>
              </a:lnSpc>
            </a:pPr>
            <a:endParaRPr lang="en-GB" sz="1200" dirty="0"/>
          </a:p>
          <a:p>
            <a:pPr>
              <a:lnSpc>
                <a:spcPct val="150000"/>
              </a:lnSpc>
            </a:pPr>
            <a:r>
              <a:rPr lang="en-GB" sz="1200" b="1" dirty="0"/>
              <a:t>Analysis Process: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Reporting &amp; Insights Manager requested dashboard to self-serve key marketing insights during QBR meetings.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Analysed stakeholder requirements to define 3 North Star Metrics (Signup Rate, CPS, CTR) &amp; identified key dimensions as campaign categories, category types, signup &amp; claim distributions, plan, &amp; state.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Loaded Excel data into Tableau Desktop.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Built self-serve dashboard following skeleton in Tableau using component charts, tables, &amp; graphs.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Analysed NS Metrics across areas of interest using line graphs, bar charts, scatterplots, and tables to gather insights.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Loaded Campaign signup, claims, and impressions data into Python.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Conducted Chi-Square test to determine statistical significance of differences in NS metrics within campaign categories.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Formulated recommendations based on stakeholder areas of interest.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Included caveats &amp; future steps in report to dive deeper into analysis – minimal data cleaning was required.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1200" dirty="0"/>
              <a:t>Future data cleaning could check for non-sensical values &amp; nulls.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47F9-4A02-D8CC-5335-3546F3CE7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22</a:t>
            </a:fld>
            <a:endParaRPr lang="en-001"/>
          </a:p>
        </p:txBody>
      </p:sp>
    </p:spTree>
    <p:extLst>
      <p:ext uri="{BB962C8B-B14F-4D97-AF65-F5344CB8AC3E}">
        <p14:creationId xmlns:p14="http://schemas.microsoft.com/office/powerpoint/2010/main" val="2942663543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103F847-8962-EB0D-187F-C0C9853D7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23</a:t>
            </a:fld>
            <a:endParaRPr lang="en-001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27B27F5-5B58-7AF1-649D-205280A8F276}"/>
              </a:ext>
            </a:extLst>
          </p:cNvPr>
          <p:cNvGrpSpPr/>
          <p:nvPr/>
        </p:nvGrpSpPr>
        <p:grpSpPr>
          <a:xfrm>
            <a:off x="3411652" y="521269"/>
            <a:ext cx="5368696" cy="5815462"/>
            <a:chOff x="3411652" y="540888"/>
            <a:chExt cx="5368696" cy="581546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D25A0F2-FB85-FBE3-CBDC-A5E434A997E3}"/>
                </a:ext>
              </a:extLst>
            </p:cNvPr>
            <p:cNvSpPr txBox="1"/>
            <p:nvPr/>
          </p:nvSpPr>
          <p:spPr>
            <a:xfrm>
              <a:off x="3411652" y="540888"/>
              <a:ext cx="536869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2400" b="1" dirty="0"/>
                <a:t>Costs Incurred per Campaign</a:t>
              </a:r>
              <a:endParaRPr lang="en-001" sz="2400" b="1" dirty="0"/>
            </a:p>
          </p:txBody>
        </p:sp>
        <p:pic>
          <p:nvPicPr>
            <p:cNvPr id="8" name="Picture 7" descr="A screenshot of a phone&#10;&#10;AI-generated content may be incorrect.">
              <a:extLst>
                <a:ext uri="{FF2B5EF4-FFF2-40B4-BE49-F238E27FC236}">
                  <a16:creationId xmlns:a16="http://schemas.microsoft.com/office/drawing/2014/main" id="{936362A4-BD39-4B82-2B2B-47BA0C7C5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0681" y="1002553"/>
              <a:ext cx="4210638" cy="53537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7572045"/>
      </p:ext>
    </p:extLst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DDB1206-BFF1-E290-5202-37A07F601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B4678-20A2-45EA-984D-27DAC8E1B902}" type="slidenum">
              <a:rPr lang="en-001" smtClean="0"/>
              <a:t>24</a:t>
            </a:fld>
            <a:endParaRPr lang="en-001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ED34A37A-2798-30C0-9B9B-1192E39673C5}"/>
              </a:ext>
            </a:extLst>
          </p:cNvPr>
          <p:cNvGrpSpPr>
            <a:grpSpLocks noChangeAspect="1"/>
          </p:cNvGrpSpPr>
          <p:nvPr/>
        </p:nvGrpSpPr>
        <p:grpSpPr>
          <a:xfrm>
            <a:off x="479479" y="1371599"/>
            <a:ext cx="5376782" cy="4259580"/>
            <a:chOff x="185373" y="317500"/>
            <a:chExt cx="4480652" cy="3549650"/>
          </a:xfrm>
        </p:grpSpPr>
        <p:pic>
          <p:nvPicPr>
            <p:cNvPr id="4" name="Picture 3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02D1F311-F401-F92A-A97B-88238F4EE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98241"/>
            <a:stretch>
              <a:fillRect/>
            </a:stretch>
          </p:blipFill>
          <p:spPr>
            <a:xfrm>
              <a:off x="185374" y="317500"/>
              <a:ext cx="4480651" cy="120650"/>
            </a:xfrm>
            <a:prstGeom prst="rect">
              <a:avLst/>
            </a:prstGeom>
          </p:spPr>
        </p:pic>
        <p:pic>
          <p:nvPicPr>
            <p:cNvPr id="8" name="Picture 7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57C207E7-E1E9-2836-30D7-0F6B725E7E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830" b="48176"/>
            <a:stretch>
              <a:fillRect/>
            </a:stretch>
          </p:blipFill>
          <p:spPr>
            <a:xfrm>
              <a:off x="185373" y="438150"/>
              <a:ext cx="4480651" cy="3429000"/>
            </a:xfrm>
            <a:prstGeom prst="rect">
              <a:avLst/>
            </a:prstGeom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48310E9-C626-DDA7-6C55-DD6A23BDF0D2}"/>
              </a:ext>
            </a:extLst>
          </p:cNvPr>
          <p:cNvGrpSpPr>
            <a:grpSpLocks noChangeAspect="1"/>
          </p:cNvGrpSpPr>
          <p:nvPr/>
        </p:nvGrpSpPr>
        <p:grpSpPr>
          <a:xfrm>
            <a:off x="6335740" y="1447767"/>
            <a:ext cx="5376782" cy="4107245"/>
            <a:chOff x="7125923" y="317500"/>
            <a:chExt cx="4480652" cy="3422704"/>
          </a:xfrm>
        </p:grpSpPr>
        <p:pic>
          <p:nvPicPr>
            <p:cNvPr id="5" name="Picture 4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2B529856-0881-F1DD-5459-05945EBD8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98241"/>
            <a:stretch>
              <a:fillRect/>
            </a:stretch>
          </p:blipFill>
          <p:spPr>
            <a:xfrm>
              <a:off x="7125924" y="317500"/>
              <a:ext cx="4480651" cy="120650"/>
            </a:xfrm>
            <a:prstGeom prst="rect">
              <a:avLst/>
            </a:prstGeom>
          </p:spPr>
        </p:pic>
        <p:pic>
          <p:nvPicPr>
            <p:cNvPr id="9" name="Picture 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1B83D0E5-E431-6435-12C9-8DC2C463D7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1824" b="35"/>
            <a:stretch>
              <a:fillRect/>
            </a:stretch>
          </p:blipFill>
          <p:spPr>
            <a:xfrm>
              <a:off x="7125923" y="438150"/>
              <a:ext cx="4480651" cy="3302054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75F97FB-1D06-AFAE-EC2D-DB6E2403EA29}"/>
              </a:ext>
            </a:extLst>
          </p:cNvPr>
          <p:cNvSpPr txBox="1"/>
          <p:nvPr/>
        </p:nvSpPr>
        <p:spPr>
          <a:xfrm>
            <a:off x="479479" y="415596"/>
            <a:ext cx="112330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/>
              <a:t>Signup &amp; Marketing Metrics Across Campaign Categories &amp; Types</a:t>
            </a:r>
            <a:endParaRPr lang="en-001" sz="2400" b="1" dirty="0"/>
          </a:p>
        </p:txBody>
      </p:sp>
    </p:spTree>
    <p:extLst>
      <p:ext uri="{BB962C8B-B14F-4D97-AF65-F5344CB8AC3E}">
        <p14:creationId xmlns:p14="http://schemas.microsoft.com/office/powerpoint/2010/main" val="2220064886"/>
      </p:ext>
    </p:extLst>
  </p:cSld>
  <p:clrMapOvr>
    <a:masterClrMapping/>
  </p:clrMapOvr>
  <p:transition spd="slow">
    <p:push dir="u"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.7|6.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8|7.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9.5|8|22.9|29.5|32.3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ontserrat">
      <a:majorFont>
        <a:latin typeface="Montserrat Semi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1940</TotalTime>
  <Words>1651</Words>
  <Application>Microsoft Office PowerPoint</Application>
  <PresentationFormat>Widescreen</PresentationFormat>
  <Paragraphs>188</Paragraphs>
  <Slides>24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Aptos</vt:lpstr>
      <vt:lpstr>Arial</vt:lpstr>
      <vt:lpstr>Montserrat</vt:lpstr>
      <vt:lpstr>Montserrat Light</vt:lpstr>
      <vt:lpstr>Montserrat Medium</vt:lpstr>
      <vt:lpstr>Montserrat SemiBold</vt:lpstr>
      <vt:lpstr>Office Theme</vt:lpstr>
      <vt:lpstr>PowerPoint Presentation</vt:lpstr>
      <vt:lpstr>Contents</vt:lpstr>
      <vt:lpstr>Project Overview</vt:lpstr>
      <vt:lpstr>Context</vt:lpstr>
      <vt:lpstr>North Star Metrics</vt:lpstr>
      <vt:lpstr>North Star Metrics – Current Outlook</vt:lpstr>
      <vt:lpstr>Insights Deep-Dive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Recommendations &amp; Next Steps</vt:lpstr>
      <vt:lpstr>Key recommendations</vt:lpstr>
      <vt:lpstr>Caveats &amp; next steps</vt:lpstr>
      <vt:lpstr>Thank You</vt:lpstr>
      <vt:lpstr>Appendix</vt:lpstr>
      <vt:lpstr>Technical Process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Shreeraj Salunke</dc:creator>
  <cp:lastModifiedBy>Shreeraj Salunke</cp:lastModifiedBy>
  <cp:revision>30</cp:revision>
  <dcterms:created xsi:type="dcterms:W3CDTF">2025-10-17T10:36:00Z</dcterms:created>
  <dcterms:modified xsi:type="dcterms:W3CDTF">2025-11-19T05:22:20Z</dcterms:modified>
  <cp:contentStatus/>
</cp:coreProperties>
</file>