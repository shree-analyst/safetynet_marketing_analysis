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igs" ContentType="application/vnd.openxmlformats-package.digital-signature-origin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_xmlsignatures/sig1.xml" ContentType="application/vnd.openxmlformats-package.digital-signature-xmlsignatur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package/2006/relationships/digital-signature/origin" Target="_xmlsignatures/origin.sigs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76" r:id="rId11"/>
    <p:sldId id="277" r:id="rId12"/>
    <p:sldId id="278" r:id="rId13"/>
    <p:sldId id="280" r:id="rId14"/>
    <p:sldId id="279" r:id="rId15"/>
    <p:sldId id="281" r:id="rId16"/>
    <p:sldId id="266" r:id="rId17"/>
    <p:sldId id="267" r:id="rId18"/>
    <p:sldId id="268" r:id="rId19"/>
    <p:sldId id="271" r:id="rId20"/>
    <p:sldId id="269" r:id="rId21"/>
    <p:sldId id="270" r:id="rId22"/>
    <p:sldId id="272" r:id="rId23"/>
    <p:sldId id="273" r:id="rId24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5645"/>
    <a:srgbClr val="F5D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86595" autoAdjust="0"/>
  </p:normalViewPr>
  <p:slideViewPr>
    <p:cSldViewPr snapToGrid="0">
      <p:cViewPr varScale="1">
        <p:scale>
          <a:sx n="68" d="100"/>
          <a:sy n="68" d="100"/>
        </p:scale>
        <p:origin x="97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67" d="100"/>
          <a:sy n="67" d="100"/>
        </p:scale>
        <p:origin x="2829" y="2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A036FA-6219-0BD4-E85A-D6B99CD2887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ED1C2-A8DA-D06B-215D-60ACC583E5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E2027B-D6B7-45CE-BA0B-E25BCF6AA73B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623603-1E49-AF39-9D13-CA1252832E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E4670D-22A8-76E7-136E-71CA37C275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616131-9402-4AC9-B55E-3200719B3CBE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2512466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5D4AD-E19A-4CD0-90A7-12F841FD0B78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41E910-7BE7-4938-89D9-B6F41698399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1780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‘Context of this project was to assess… We’ll make recommendations geared towards resource allocation…’</a:t>
            </a:r>
          </a:p>
          <a:p>
            <a:r>
              <a:rPr lang="en-GB" dirty="0"/>
              <a:t>‘To present the current scenario, the marketing team uses their budget in 2 areas…’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9003185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‘We can define 3 NS metrics…’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798976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‘Looking at the current overall performance…’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50381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Signif</a:t>
            </a:r>
            <a:r>
              <a:rPr lang="en-GB" dirty="0"/>
              <a:t> differences </a:t>
            </a:r>
            <a:r>
              <a:rPr lang="en-GB" dirty="0" err="1"/>
              <a:t>btn</a:t>
            </a:r>
            <a:r>
              <a:rPr lang="en-GB" dirty="0"/>
              <a:t> campaigns – performance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Explain title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Identify campaigns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GB" dirty="0"/>
              <a:t>Identify HFA as individual best performer for both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GB" dirty="0"/>
              <a:t>Mention contributing factor – Health Awareness type campaigns – 37% CTR &amp; 8% Signup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8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8794076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Explain title (+ despite lower-than-average clicks)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Identify campaigns &amp; High Signup Rate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Identify 4 campaigns that generate 83%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9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176259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Explain title (‘a further 3…)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Identify campaigns &amp; high CTR despite low signup rate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Identify BU as 2</a:t>
            </a:r>
            <a:r>
              <a:rPr lang="en-GB" baseline="30000" dirty="0"/>
              <a:t>nd</a:t>
            </a:r>
            <a:r>
              <a:rPr lang="en-GB" dirty="0"/>
              <a:t> best in CTR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5851876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Explain title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Identify campaigns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Call out GYS as outright worst performer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056162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Best-performers use resources most effectively: combined total of 3 best performers $8k, while #IYH itself is $7k.</a:t>
            </a:r>
          </a:p>
          <a:p>
            <a:r>
              <a:rPr lang="en-GB" dirty="0"/>
              <a:t>With 2 campaigns costing $11k, poor performers underperform despite high resource allocation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390465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Introduce next point of the story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Explain title &amp; similar performance of all campaigns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Explain trend – peak during 2020, then slow decline, ending below pandemic levels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GB" dirty="0"/>
              <a:t>Postulate reasons – industry-wide signups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en-GB" dirty="0"/>
              <a:t>Call out seemingly different CHC campaign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935045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Explain difference to previous campaigns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Call out trend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Steady rise, peak in mid-2021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Sharp fall in mid-2022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48485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Identify strong link of previous peaks &amp; troughs to campaign type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Explain reasons – 2021 peak, 2022 sharp fall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Identify 0 signups across 2019 in testimonials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GB" dirty="0"/>
              <a:t>Identify probable reason – unlaunched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Mention low CPS of $1.8 despite most expensive ($10k)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189430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Make a smooth transition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9149241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Call out 2 recommendation strategies with short explanation</a:t>
            </a:r>
          </a:p>
          <a:p>
            <a:r>
              <a:rPr lang="en-GB" dirty="0"/>
              <a:t>Call out project goals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1</a:t>
            </a:r>
            <a:r>
              <a:rPr lang="en-GB" baseline="30000" dirty="0"/>
              <a:t>st</a:t>
            </a:r>
            <a:r>
              <a:rPr lang="en-GB" dirty="0"/>
              <a:t> recommendation – budget reallocation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Call out reasons – worst performing campaigns to best performing ones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2</a:t>
            </a:r>
            <a:r>
              <a:rPr lang="en-GB" baseline="30000" dirty="0"/>
              <a:t>nd</a:t>
            </a:r>
            <a:r>
              <a:rPr lang="en-GB" dirty="0"/>
              <a:t> recommendation – customer testimonials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Call out reasons mentioned on screen.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Call out 4 campaigns = 83% of signups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3</a:t>
            </a:r>
            <a:r>
              <a:rPr lang="en-GB" baseline="30000" dirty="0"/>
              <a:t>rd</a:t>
            </a:r>
            <a:r>
              <a:rPr lang="en-GB" dirty="0"/>
              <a:t> recommendation – identify pair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Show appendix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Identify #CoverageMatters-Product Promotion potential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4</a:t>
            </a:r>
            <a:r>
              <a:rPr lang="en-GB" baseline="30000" dirty="0"/>
              <a:t>th</a:t>
            </a:r>
            <a:r>
              <a:rPr lang="en-GB" dirty="0"/>
              <a:t> recommendation – call out metrics &amp; problem plans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815033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Call out team to work with to address issue 1</a:t>
            </a:r>
          </a:p>
          <a:p>
            <a:r>
              <a:rPr lang="en-GB" dirty="0"/>
              <a:t>Call out team to work with to improve analysis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18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920532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4194B-1970-7575-C65C-F21C39AB5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0C4D2C-5A75-B5D4-5572-CF801B338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DBDD02-AD29-4D5A-9533-7E6FFC790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B5932-2B80-9F66-88C7-84FF47D96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19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164966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20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6334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21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13545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315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C6BE-5C23-8D7B-A9B6-3629630C58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366B83-E92F-CD55-EA74-558713364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F3CA7-C4AC-A4AE-4885-0703E32A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3B1E3A-E0A4-5151-F11D-874E00C3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56B13-56CC-B9E3-2B2E-E05760BFC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88225129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315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8301A-9EC6-3EF1-A0F0-12BA9D2830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  <a:endParaRPr lang="en-001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2D322-49D9-5EAE-89A2-C7E5795D4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B2CC89-2A3E-0249-D9DD-37762D4A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DD7382-3280-8A1E-DF83-91ED8D73A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649169284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03782-AD1C-E0F4-B46A-A1A7CC38A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77B10-CD6B-36B7-57E3-5C23093D0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73E85-1345-615F-426D-282312060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5D3C3-6396-E124-03FE-F8F64A871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E7185-3E75-6C84-0ABA-E2435F5B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CD4C91-4EB2-703E-007A-C8C2FA3F6211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BF70C7-793F-0296-F54F-D20E2BB0544E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8" name="Picture 7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43491951-F956-917F-CBB0-F466C2F8ED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228577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4B703-A34F-8F13-DF12-96BE92527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2AD2A-C8B1-AEDE-0E17-BCEE02295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6740A8-5700-2CB4-74AE-DD62DEEB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48271-F04B-B2D9-5BE2-AF818F4B4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F267C-1108-3029-7D42-51575C1B5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38FEC73-688A-64C5-9914-799EE47961DA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3174D6-CFE7-EEAE-0993-AD055BB4F8F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9" name="Picture 8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566B1B4A-28EA-D183-8957-E8ECB25103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7737959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124F-C195-B54B-64FA-2763C21A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C3C1E-7675-15C1-7432-EFFA10FB6E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EB6337-14AF-AB4A-D569-3252D4A12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A9863-8C32-C6D8-8537-83146E6C4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B93D0-7B43-3A49-39E0-663F4E851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A7FA8-41FE-4465-D599-0822BA932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1C8970-F303-B262-8E72-C59049393A84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1E7B0F9-9760-058A-BA8B-1FFAA0B92B15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10" name="Picture 9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0D3E30AC-1FB8-04FF-0EE3-292A613BA2C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8150694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E63C6-D4F6-11DE-C80E-EC2758AA2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796005-EBFB-9A8A-032F-88E23124B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EA26F-093D-DD3E-9AA7-8FF9493DE5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573CB4-BAB3-E773-97A9-770FF6CB1D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9B8AD-AA70-F8B9-CA95-85702A95BD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92C80F-35E2-A113-D476-18287A9D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0D5577-12E5-2CD8-C06F-1AA794A0F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72BF34-20BA-040F-0B09-F74CE07EA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C0CEBC-0E69-5B49-BBFA-EF761F1F63F6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56816BA-C1AA-728E-77F8-0F8AD8362284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12" name="Picture 11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0C82A9C0-86F8-4AF0-48B6-E1D126D405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838573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B7D8A-E52A-7197-55BA-1D4BCF39A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075F14-D263-22AB-25F6-9D5FAFED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9C043E-1453-1056-DCC4-A9EAB9014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CE9893-EF30-9CFC-F5D0-DED8AF27E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0804B2-5B5C-1020-F710-F2030BFBC1F4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EB45FC7-51E7-C1AA-0DB2-2B149350AFF6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8" name="Picture 7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0CFE1F55-F0C6-FD3A-0FF5-387B7EB6511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43786028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0D936-A188-AD95-A48B-7115EB868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D88DA1-6368-BFA7-EA29-4E368D05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6C89E-8264-97D9-908E-C0AF20EE0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31E9DA5-F91F-B33F-5535-400879880D30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3185172-7BC7-84F5-11FD-D4CA579FCAFB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7" name="Picture 6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8FB4E377-1A9F-6BFE-8A6F-BB15C410AD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2793265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F6B45-B8B2-7828-581E-5B93D7048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E7530-E05B-2A7A-7FFA-5203B3D1B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0C909B-33BF-CD13-1BEE-A68CAFA835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0AAFD-40C8-07D6-60D4-088D0D73A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EABE2B-F974-BB8E-C9DA-F13E57BD3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F4823-0AD5-D8D1-15B6-2D480EA9F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312E337-4989-DFF2-DF1A-03D60F51C91F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5B9521D-2477-39AC-558A-F1D458D74B1C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10" name="Picture 9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1689237F-6541-7C64-387F-4B9FDBD9095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62544744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3C2E3-9CA3-F2AB-0664-BEE4C663F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56B9C9-CD66-F8E3-BA9A-6F4D767783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8EA50-78FE-E77F-368B-AE5C8F9FF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5CDFE-5B8D-FC93-9917-4FB1F76EB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084D5-1AD0-AB0B-34A2-B77F2584D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6C9DF-01ED-86C8-C417-509B373BD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50E6DA3-0FBF-969C-A06D-B52155BE7E0B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5F71945-EE03-C34D-4E23-9D8C70973D3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10" name="Picture 9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5D42ECCA-466C-3F1F-25A3-9D02F29CE2A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039006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CCBA4-4A9A-14AA-C681-2591C4800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8F678-4535-00D1-E7FB-713D6E8802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620E3-50FD-3F1E-8BDE-8F7EEB9A2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1E370-5909-6A6B-0722-E435E3FBC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6E7CA-94D0-B45D-5789-8E7AF8751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142F59B-3617-7861-ADBF-F444B9C7F404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76E87CC-6947-F639-F1C1-4BF82000395E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9" name="Picture 8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4F649586-C7C6-6D57-3DF7-84505A83DE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3467895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DC4A51-B837-D608-BEA1-BD23290FB7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B44EE0-10DD-411B-1FEE-49EA0E5F3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39A083-82F5-B827-42A0-68F551B00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6F91D-6A5F-D125-0F2A-99EEE907E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C2BCC7-E5FA-BA4B-4215-62EFAD76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A085911-DFC1-F65A-235E-933BF309A593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92A832-EB06-3083-6185-5072A65E924E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9" name="Picture 8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BEFBC600-7308-DB69-F164-EB96D111BC3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22210097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F76150-4E55-47CF-6066-D17E27452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83113-376B-9B06-11BF-BE58BAD0A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C03BE-BB97-FA00-C6B9-6ED25E1AA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CCDFC9-DC4B-449E-AE90-1CD2D7BD5427}" type="datetimeFigureOut">
              <a:rPr lang="en-001" smtClean="0"/>
              <a:t>10/11/2025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31AE0-EADD-D753-C969-7482CA4352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0C85A-B7EF-1D71-F643-3A6ECAB092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527003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ransition spd="slow">
    <p:push dir="u"/>
  </p:transition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5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4B3F7F-54EF-72B0-7EAF-B63790590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  <a:latin typeface="Montserrat Medium" pitchFamily="2" charset="0"/>
              </a:rPr>
              <a:t>Marketing Insights &amp; Recommendations</a:t>
            </a:r>
          </a:p>
          <a:p>
            <a:r>
              <a:rPr lang="en-GB" sz="1600" dirty="0">
                <a:solidFill>
                  <a:schemeClr val="bg1"/>
                </a:solidFill>
                <a:latin typeface="Montserrat Light" pitchFamily="2" charset="0"/>
              </a:rPr>
              <a:t>Campaign Performance</a:t>
            </a:r>
          </a:p>
          <a:p>
            <a:r>
              <a:rPr lang="en-GB" sz="1600" dirty="0">
                <a:solidFill>
                  <a:schemeClr val="bg1"/>
                </a:solidFill>
                <a:latin typeface="Montserrat Light" pitchFamily="2" charset="0"/>
              </a:rPr>
              <a:t>Shreeraj Salunke – Data Team</a:t>
            </a:r>
            <a:endParaRPr lang="en-001" sz="16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pic>
        <p:nvPicPr>
          <p:cNvPr id="4" name="Picture 3" descr="A heart in a circle with text&#10;&#10;AI-generated content may be incorrect.">
            <a:extLst>
              <a:ext uri="{FF2B5EF4-FFF2-40B4-BE49-F238E27FC236}">
                <a16:creationId xmlns:a16="http://schemas.microsoft.com/office/drawing/2014/main" id="{B6289DBF-10D8-F22C-21F2-AB00AB433A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1455962"/>
            <a:ext cx="1800000" cy="180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C65272-D518-6B60-D6FB-1FF810AC8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00613491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956B6-7BAB-F99E-FBAB-6707E36AC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Contents</a:t>
            </a:r>
            <a:endParaRPr lang="en-001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427CF-7248-D481-55A2-57C513A49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>
                <a:latin typeface="Montserrat" pitchFamily="2" charset="0"/>
              </a:rPr>
              <a:t>Project Overview</a:t>
            </a:r>
          </a:p>
          <a:p>
            <a:r>
              <a:rPr lang="en-GB" sz="2000" dirty="0">
                <a:latin typeface="Montserrat" pitchFamily="2" charset="0"/>
              </a:rPr>
              <a:t>Insights Deep-Dive</a:t>
            </a:r>
          </a:p>
          <a:p>
            <a:r>
              <a:rPr lang="en-GB" sz="2000" dirty="0">
                <a:latin typeface="Montserrat" pitchFamily="2" charset="0"/>
              </a:rPr>
              <a:t>Recommendations &amp; Next Steps</a:t>
            </a:r>
          </a:p>
          <a:p>
            <a:r>
              <a:rPr lang="en-GB" sz="2000" dirty="0">
                <a:latin typeface="Montserrat" pitchFamily="2" charset="0"/>
              </a:rPr>
              <a:t>Appendix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14E83-BF8C-1010-88D5-D78081F66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6772766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52078-7FED-4562-2DE0-F1B22AAEE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Project Overview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34AB18-9153-D004-60E4-F28F96F9D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4746188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D7708-8DEA-36B2-3A51-72040AA68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Context</a:t>
            </a:r>
            <a:endParaRPr lang="en-00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C6D2C8-3BA5-651C-6D3A-6457745C1FDA}"/>
              </a:ext>
            </a:extLst>
          </p:cNvPr>
          <p:cNvSpPr txBox="1"/>
          <p:nvPr/>
        </p:nvSpPr>
        <p:spPr>
          <a:xfrm>
            <a:off x="3552825" y="1997839"/>
            <a:ext cx="50863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itchFamily="2" charset="0"/>
              </a:rPr>
              <a:t>This project </a:t>
            </a:r>
            <a:r>
              <a:rPr lang="en-GB" b="1" dirty="0">
                <a:latin typeface="Montserrat" pitchFamily="2" charset="0"/>
              </a:rPr>
              <a:t>assesses marketing campaign performance</a:t>
            </a:r>
            <a:r>
              <a:rPr lang="en-GB" dirty="0">
                <a:latin typeface="Montserrat" pitchFamily="2" charset="0"/>
              </a:rPr>
              <a:t> for campaign categories Safety Net introduced in 2019 and makes recommendations on improving marketing budget allocation for 2024.</a:t>
            </a:r>
          </a:p>
          <a:p>
            <a:pPr algn="ctr"/>
            <a:endParaRPr lang="en-GB" dirty="0">
              <a:latin typeface="Montserrat" pitchFamily="2" charset="0"/>
            </a:endParaRPr>
          </a:p>
          <a:p>
            <a:pPr algn="ctr"/>
            <a:r>
              <a:rPr lang="en-GB" dirty="0">
                <a:latin typeface="Montserrat" pitchFamily="2" charset="0"/>
              </a:rPr>
              <a:t>Currently, the marketing budget is allocated towards two main areas: </a:t>
            </a:r>
            <a:r>
              <a:rPr lang="en-GB" b="1" dirty="0">
                <a:latin typeface="Montserrat" pitchFamily="2" charset="0"/>
              </a:rPr>
              <a:t>1 – generating signups and 2 – increasing brand awareness </a:t>
            </a:r>
            <a:r>
              <a:rPr lang="en-GB" dirty="0">
                <a:latin typeface="Montserrat" pitchFamily="2" charset="0"/>
              </a:rPr>
              <a:t>through clicks.</a:t>
            </a:r>
            <a:endParaRPr lang="en-001" dirty="0">
              <a:latin typeface="Montserrat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62765-F378-FB8C-64CE-D864D2AE1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8018687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38DA-B40D-077F-DC09-936A13D0A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North Star Metrics</a:t>
            </a:r>
            <a:endParaRPr lang="en-001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57E8C-3670-A7D1-7C1B-DB285CE98ADA}"/>
              </a:ext>
            </a:extLst>
          </p:cNvPr>
          <p:cNvSpPr txBox="1"/>
          <p:nvPr/>
        </p:nvSpPr>
        <p:spPr>
          <a:xfrm>
            <a:off x="838200" y="1403350"/>
            <a:ext cx="10515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Montserrat" pitchFamily="2" charset="0"/>
              </a:rPr>
              <a:t>The project uses the following metrics in assessing performance:</a:t>
            </a:r>
            <a:endParaRPr lang="en-001" sz="1600" dirty="0">
              <a:latin typeface="Montserrat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02DF9F-6F77-9690-CFF5-42156540A347}"/>
              </a:ext>
            </a:extLst>
          </p:cNvPr>
          <p:cNvSpPr txBox="1"/>
          <p:nvPr/>
        </p:nvSpPr>
        <p:spPr>
          <a:xfrm>
            <a:off x="2470151" y="2108200"/>
            <a:ext cx="3619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 Medium" pitchFamily="2" charset="0"/>
              </a:rPr>
              <a:t>Marketing Metrics</a:t>
            </a:r>
            <a:endParaRPr lang="en-001" dirty="0">
              <a:latin typeface="Montserrat Medium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E68045-C14F-E472-7813-860C0C3BB514}"/>
              </a:ext>
            </a:extLst>
          </p:cNvPr>
          <p:cNvSpPr txBox="1"/>
          <p:nvPr/>
        </p:nvSpPr>
        <p:spPr>
          <a:xfrm>
            <a:off x="6096000" y="2108200"/>
            <a:ext cx="3619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 Medium" pitchFamily="2" charset="0"/>
              </a:rPr>
              <a:t>Signup Metrics</a:t>
            </a:r>
            <a:endParaRPr lang="en-001" dirty="0">
              <a:latin typeface="Montserrat Medium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A5DF98-3C24-A304-B266-47A93F12BE6E}"/>
              </a:ext>
            </a:extLst>
          </p:cNvPr>
          <p:cNvGrpSpPr/>
          <p:nvPr/>
        </p:nvGrpSpPr>
        <p:grpSpPr>
          <a:xfrm>
            <a:off x="2790827" y="3764379"/>
            <a:ext cx="2978150" cy="984885"/>
            <a:chOff x="2971800" y="3090446"/>
            <a:chExt cx="2978150" cy="98488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12DF399-6357-746D-182C-618B624D60AD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Click-Through Rate (CTR)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329D382-B9BB-F372-6044-D0621977B8ED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>
                  <a:latin typeface="Montserrat Light" pitchFamily="2" charset="0"/>
                </a:rPr>
                <a:t>Percent of people who click on a campaign from among the number of people it reaches (impressions).</a:t>
              </a:r>
              <a:endParaRPr lang="en-001" sz="1200" dirty="0">
                <a:latin typeface="Montserrat Light" pitchFamily="2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859F13E-D4D8-235D-9205-7EE033AD4677}"/>
              </a:ext>
            </a:extLst>
          </p:cNvPr>
          <p:cNvGrpSpPr/>
          <p:nvPr/>
        </p:nvGrpSpPr>
        <p:grpSpPr>
          <a:xfrm>
            <a:off x="6423024" y="3087271"/>
            <a:ext cx="2978150" cy="984885"/>
            <a:chOff x="2971800" y="3090446"/>
            <a:chExt cx="2978150" cy="98488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2EAB4E7-496B-7DE6-CAFC-A9905F569D89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Signup Rate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19E3A8-E2C6-F1A3-BDD1-1F77C58994AF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>
                  <a:latin typeface="Montserrat Light" pitchFamily="2" charset="0"/>
                </a:rPr>
                <a:t>Percent of people who sign up to one of Safety Net’s plans following a campaign click.</a:t>
              </a:r>
              <a:endParaRPr lang="en-001" sz="1200" dirty="0">
                <a:latin typeface="Montserrat Light" pitchFamily="2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5DF243F-B8C1-C60C-166A-D4AAA8C60646}"/>
              </a:ext>
            </a:extLst>
          </p:cNvPr>
          <p:cNvGrpSpPr/>
          <p:nvPr/>
        </p:nvGrpSpPr>
        <p:grpSpPr>
          <a:xfrm>
            <a:off x="6423024" y="4410710"/>
            <a:ext cx="2978150" cy="800219"/>
            <a:chOff x="2971800" y="3090446"/>
            <a:chExt cx="2978150" cy="80021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5D836D1-F6D6-E215-6CEA-A26D6F0D6F08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Cost-per-Signup (CPS)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2EBF4C6-2566-0947-B68D-E9DAB00D0269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>
                  <a:latin typeface="Montserrat Light" pitchFamily="2" charset="0"/>
                </a:rPr>
                <a:t>Amount it costs in US$ to obtain one new customer</a:t>
              </a:r>
              <a:endParaRPr lang="en-001" sz="1200" dirty="0">
                <a:latin typeface="Montserrat Light" pitchFamily="2" charset="0"/>
              </a:endParaRPr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8F0B699-D5AC-7737-21C5-6226D71480EA}"/>
              </a:ext>
            </a:extLst>
          </p:cNvPr>
          <p:cNvCxnSpPr>
            <a:cxnSpLocks/>
          </p:cNvCxnSpPr>
          <p:nvPr/>
        </p:nvCxnSpPr>
        <p:spPr>
          <a:xfrm>
            <a:off x="2476500" y="2711450"/>
            <a:ext cx="7245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2A99DE0-1B1C-FB7A-6333-CF66E9EA6DEF}"/>
              </a:ext>
            </a:extLst>
          </p:cNvPr>
          <p:cNvCxnSpPr>
            <a:cxnSpLocks/>
          </p:cNvCxnSpPr>
          <p:nvPr/>
        </p:nvCxnSpPr>
        <p:spPr>
          <a:xfrm>
            <a:off x="6096000" y="2000250"/>
            <a:ext cx="0" cy="43243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A76171-320C-7ED0-24A6-4F796DF02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62744107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57F1C-7245-CC05-FFE0-34115E62C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F3AA4-11A9-DA1A-F24B-0FC636FE7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North Star Metrics – Current Outlook</a:t>
            </a:r>
            <a:endParaRPr lang="en-001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7DCCAC-8702-4D25-DFBC-9975C53D336E}"/>
              </a:ext>
            </a:extLst>
          </p:cNvPr>
          <p:cNvSpPr txBox="1"/>
          <p:nvPr/>
        </p:nvSpPr>
        <p:spPr>
          <a:xfrm>
            <a:off x="838200" y="1403350"/>
            <a:ext cx="10515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Montserrat" pitchFamily="2" charset="0"/>
              </a:rPr>
              <a:t>Overall North Star Metric details are in line with industry trends.</a:t>
            </a:r>
            <a:endParaRPr lang="en-001" sz="1600" dirty="0">
              <a:latin typeface="Montserrat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AE955D-BB73-73E0-20A1-3DED0F1F53FF}"/>
              </a:ext>
            </a:extLst>
          </p:cNvPr>
          <p:cNvSpPr txBox="1"/>
          <p:nvPr/>
        </p:nvSpPr>
        <p:spPr>
          <a:xfrm>
            <a:off x="2470151" y="2108200"/>
            <a:ext cx="3619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 Medium" pitchFamily="2" charset="0"/>
              </a:rPr>
              <a:t>Marketing Metrics</a:t>
            </a:r>
            <a:endParaRPr lang="en-001" dirty="0">
              <a:latin typeface="Montserrat Medium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C2BECE-C06E-BAC2-39A9-CDD9C4DD7E93}"/>
              </a:ext>
            </a:extLst>
          </p:cNvPr>
          <p:cNvSpPr txBox="1"/>
          <p:nvPr/>
        </p:nvSpPr>
        <p:spPr>
          <a:xfrm>
            <a:off x="6096000" y="2108200"/>
            <a:ext cx="3619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 Medium" pitchFamily="2" charset="0"/>
              </a:rPr>
              <a:t>Signup Metrics</a:t>
            </a:r>
            <a:endParaRPr lang="en-001" dirty="0">
              <a:latin typeface="Montserrat Medium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3C565-6648-CA89-10BD-C6FEA7A4FE9F}"/>
              </a:ext>
            </a:extLst>
          </p:cNvPr>
          <p:cNvGrpSpPr/>
          <p:nvPr/>
        </p:nvGrpSpPr>
        <p:grpSpPr>
          <a:xfrm>
            <a:off x="2790826" y="3841323"/>
            <a:ext cx="2978150" cy="800219"/>
            <a:chOff x="2971800" y="3090446"/>
            <a:chExt cx="2978150" cy="80021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80E5670-7725-0F27-B594-560651975AE3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Click-Through Rate (CTR)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17CCF6A-58C5-DD94-8D33-4FD68A99433F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b="1" dirty="0"/>
                <a:t>9.39%</a:t>
              </a:r>
              <a:r>
                <a:rPr lang="en-GB" sz="1200" dirty="0"/>
                <a:t> of people who see a campaign click on it.</a:t>
              </a:r>
              <a:endParaRPr lang="en-001" sz="1200" b="1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B23CE36-030B-D4E8-739E-EBD33C92063B}"/>
              </a:ext>
            </a:extLst>
          </p:cNvPr>
          <p:cNvGrpSpPr/>
          <p:nvPr/>
        </p:nvGrpSpPr>
        <p:grpSpPr>
          <a:xfrm>
            <a:off x="6423024" y="3087271"/>
            <a:ext cx="2978150" cy="1169551"/>
            <a:chOff x="2971800" y="3090446"/>
            <a:chExt cx="2978150" cy="116955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2118A8D-7E35-3F6E-19F6-9ED99CBF6113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Signup Rate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82E4FCC-C144-FF36-04BB-E238FF8B4863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/>
                <a:t>Among the people who click on a campaign, </a:t>
              </a:r>
              <a:r>
                <a:rPr lang="en-GB" sz="1200" b="1" dirty="0"/>
                <a:t>1.92%</a:t>
              </a:r>
              <a:r>
                <a:rPr lang="en-GB" sz="1200" dirty="0"/>
                <a:t> purchase a health insurance plan, amounting to 16,338 customers.</a:t>
              </a:r>
              <a:endParaRPr lang="en-001" sz="12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B7DE5D5-52C6-3A8E-DBF6-F2F7D0130F26}"/>
              </a:ext>
            </a:extLst>
          </p:cNvPr>
          <p:cNvGrpSpPr/>
          <p:nvPr/>
        </p:nvGrpSpPr>
        <p:grpSpPr>
          <a:xfrm>
            <a:off x="6423024" y="4413885"/>
            <a:ext cx="2978150" cy="800219"/>
            <a:chOff x="2971800" y="3090446"/>
            <a:chExt cx="2978150" cy="80021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29778EE-A451-229B-C81D-7F9FBE782A98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Cost-per-Signup (CPS)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10D04F-ECFA-98B2-86C7-5B07B4CEA9D9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/>
                <a:t>It costs </a:t>
              </a:r>
              <a:r>
                <a:rPr lang="en-GB" sz="1200" b="1" dirty="0"/>
                <a:t>$3.68</a:t>
              </a:r>
              <a:r>
                <a:rPr lang="en-GB" sz="1200" dirty="0"/>
                <a:t> for a new customer to purchase a plan.</a:t>
              </a:r>
              <a:endParaRPr lang="en-001" sz="1200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DCB794E-238A-8D17-2B4A-A33AF59B9B0A}"/>
              </a:ext>
            </a:extLst>
          </p:cNvPr>
          <p:cNvCxnSpPr>
            <a:cxnSpLocks/>
          </p:cNvCxnSpPr>
          <p:nvPr/>
        </p:nvCxnSpPr>
        <p:spPr>
          <a:xfrm>
            <a:off x="2476500" y="2711450"/>
            <a:ext cx="7245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8251C74-9AB1-B3EB-2B62-EE0AE497EFDD}"/>
              </a:ext>
            </a:extLst>
          </p:cNvPr>
          <p:cNvCxnSpPr>
            <a:cxnSpLocks/>
          </p:cNvCxnSpPr>
          <p:nvPr/>
        </p:nvCxnSpPr>
        <p:spPr>
          <a:xfrm>
            <a:off x="6096000" y="2000250"/>
            <a:ext cx="0" cy="43243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D074F6D-2082-C813-048B-74186274B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608566618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73EB5-0BBF-F892-3D9B-B567507C5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7E530-F4D4-E39C-47D0-A3CB18891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/>
              <a:t>Insights Deep-Dive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78263C-FAB4-2938-49A3-A944374ED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731795324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7C692E-350D-F33D-D22C-47E787FF9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8</a:t>
            </a:fld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5DACC-5E57-2F9F-AE53-351AD8600B46}"/>
              </a:ext>
            </a:extLst>
          </p:cNvPr>
          <p:cNvSpPr txBox="1"/>
          <p:nvPr/>
        </p:nvSpPr>
        <p:spPr>
          <a:xfrm>
            <a:off x="174432" y="119549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within Campaigns: 2 Generate both, Clicks &amp; Signups</a:t>
            </a:r>
            <a:endParaRPr lang="en-001" sz="2000" b="1" dirty="0"/>
          </a:p>
        </p:txBody>
      </p:sp>
      <p:pic>
        <p:nvPicPr>
          <p:cNvPr id="13" name="Picture 12" descr="A white background with green dots and black text&#10;&#10;AI-generated content may be incorrect.">
            <a:extLst>
              <a:ext uri="{FF2B5EF4-FFF2-40B4-BE49-F238E27FC236}">
                <a16:creationId xmlns:a16="http://schemas.microsoft.com/office/drawing/2014/main" id="{68D091A3-D2CD-B49D-6DE0-84B1076422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2" y="519659"/>
            <a:ext cx="11843133" cy="5818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05658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43E2E-987C-97C5-258C-F0C67401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CA3DBD-6DF5-6D88-7B87-273EBC086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9</a:t>
            </a:fld>
            <a:endParaRPr lang="en-00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50E8D-459E-F2EC-7A7D-A1B30CE23178}"/>
              </a:ext>
            </a:extLst>
          </p:cNvPr>
          <p:cNvSpPr txBox="1"/>
          <p:nvPr/>
        </p:nvSpPr>
        <p:spPr>
          <a:xfrm>
            <a:off x="174433" y="112552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within Campaigns: 3 Effectively Generate Signups</a:t>
            </a:r>
            <a:endParaRPr lang="en-001" sz="2000" b="1" dirty="0"/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D470C94-BC07-9B51-9A41-1879140F8A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2" y="519659"/>
            <a:ext cx="11843133" cy="5818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9163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0EDAC-A0FD-D5AA-7F7F-CEC407D55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47B4DF-FAD5-24E2-DEF7-D24DAE07D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10</a:t>
            </a:fld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C883BE-07EF-8141-9152-73E781C335A4}"/>
              </a:ext>
            </a:extLst>
          </p:cNvPr>
          <p:cNvSpPr txBox="1"/>
          <p:nvPr/>
        </p:nvSpPr>
        <p:spPr>
          <a:xfrm>
            <a:off x="174432" y="119549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within Campaigns: 4 Effectively Generate Clicks</a:t>
            </a:r>
            <a:endParaRPr lang="en-001" sz="2000" b="1" dirty="0"/>
          </a:p>
        </p:txBody>
      </p:sp>
      <p:pic>
        <p:nvPicPr>
          <p:cNvPr id="4" name="Picture 3" descr="A screen shot of a graph&#10;&#10;AI-generated content may be incorrect.">
            <a:extLst>
              <a:ext uri="{FF2B5EF4-FFF2-40B4-BE49-F238E27FC236}">
                <a16:creationId xmlns:a16="http://schemas.microsoft.com/office/drawing/2014/main" id="{ACBC245E-CC0B-D4DF-D5C6-4F149E5F98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2" y="519659"/>
            <a:ext cx="11843133" cy="5818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561901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C24C4-AF22-AE33-4543-C1ADEF445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F89ED2-1882-DB71-3A00-A34CEE934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11</a:t>
            </a:fld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8850C2-2E1F-7094-6809-514B590B9732}"/>
              </a:ext>
            </a:extLst>
          </p:cNvPr>
          <p:cNvSpPr txBox="1"/>
          <p:nvPr/>
        </p:nvSpPr>
        <p:spPr>
          <a:xfrm>
            <a:off x="174433" y="119549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within Campaigns: 2 Fail to Generate Clicks or Signups</a:t>
            </a:r>
            <a:endParaRPr lang="en-001" sz="2000" b="1" dirty="0"/>
          </a:p>
        </p:txBody>
      </p:sp>
      <p:pic>
        <p:nvPicPr>
          <p:cNvPr id="4" name="Picture 3" descr="A graph with green dots&#10;&#10;AI-generated content may be incorrect.">
            <a:extLst>
              <a:ext uri="{FF2B5EF4-FFF2-40B4-BE49-F238E27FC236}">
                <a16:creationId xmlns:a16="http://schemas.microsoft.com/office/drawing/2014/main" id="{E38F33F7-AC86-9450-42DC-FFC57E2E7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4" y="519659"/>
            <a:ext cx="11843133" cy="5818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4100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E4B21-6385-F14C-AB16-6E9C647E2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0A4FD-EEE2-2C56-70B5-BE53D05A3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12</a:t>
            </a:fld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E4B69C-0DC5-4C2E-3BD0-A416E9B56E0C}"/>
              </a:ext>
            </a:extLst>
          </p:cNvPr>
          <p:cNvSpPr txBox="1"/>
          <p:nvPr/>
        </p:nvSpPr>
        <p:spPr>
          <a:xfrm>
            <a:off x="174433" y="63500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Campaign Resource Use: Effective by Best Performers, Ineffective by Worst Performers</a:t>
            </a:r>
            <a:endParaRPr lang="en-001" sz="2000" b="1" dirty="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58F926EC-D19F-2CF9-B36F-04923C8795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4" y="519659"/>
            <a:ext cx="11843133" cy="5818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19591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EA2C0E-013D-A2B6-9615-836A79A38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13</a:t>
            </a:fld>
            <a:endParaRPr lang="en-001"/>
          </a:p>
        </p:txBody>
      </p:sp>
      <p:pic>
        <p:nvPicPr>
          <p:cNvPr id="4" name="Picture 3" descr="A graph of green and orange lines&#10;&#10;AI-generated content may be incorrect.">
            <a:extLst>
              <a:ext uri="{FF2B5EF4-FFF2-40B4-BE49-F238E27FC236}">
                <a16:creationId xmlns:a16="http://schemas.microsoft.com/office/drawing/2014/main" id="{C4A2EF1C-4D63-63CA-FD3E-2312ABE387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3" y="519659"/>
            <a:ext cx="12003175" cy="58186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70CD39-5333-3025-2DB4-B779ED16001D}"/>
              </a:ext>
            </a:extLst>
          </p:cNvPr>
          <p:cNvSpPr txBox="1"/>
          <p:nvPr/>
        </p:nvSpPr>
        <p:spPr>
          <a:xfrm>
            <a:off x="174433" y="119549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New Signups per Month Peaked during Pandemic across Most Campaign Categories</a:t>
            </a:r>
            <a:endParaRPr lang="en-001" sz="2000" b="1" dirty="0"/>
          </a:p>
        </p:txBody>
      </p:sp>
    </p:spTree>
    <p:extLst>
      <p:ext uri="{BB962C8B-B14F-4D97-AF65-F5344CB8AC3E}">
        <p14:creationId xmlns:p14="http://schemas.microsoft.com/office/powerpoint/2010/main" val="36700801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AF08DA-FC56-F0E1-4AB4-895DCB623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14</a:t>
            </a:fld>
            <a:endParaRPr lang="en-001"/>
          </a:p>
        </p:txBody>
      </p:sp>
      <p:pic>
        <p:nvPicPr>
          <p:cNvPr id="4" name="Picture 3" descr="A graph of green and white lines&#10;&#10;AI-generated content may be incorrect.">
            <a:extLst>
              <a:ext uri="{FF2B5EF4-FFF2-40B4-BE49-F238E27FC236}">
                <a16:creationId xmlns:a16="http://schemas.microsoft.com/office/drawing/2014/main" id="{6CD7477C-EA12-A211-3B5D-AF09500A08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3" y="519659"/>
            <a:ext cx="12003175" cy="58186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087F570-4604-E341-4A8C-8975737E7C09}"/>
              </a:ext>
            </a:extLst>
          </p:cNvPr>
          <p:cNvSpPr txBox="1"/>
          <p:nvPr/>
        </p:nvSpPr>
        <p:spPr>
          <a:xfrm>
            <a:off x="174433" y="101540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Compare Health Coverage Peaked Later &amp; Fell Sharply in mid-2022</a:t>
            </a:r>
            <a:endParaRPr lang="en-001" sz="2000" b="1" dirty="0"/>
          </a:p>
        </p:txBody>
      </p:sp>
    </p:spTree>
    <p:extLst>
      <p:ext uri="{BB962C8B-B14F-4D97-AF65-F5344CB8AC3E}">
        <p14:creationId xmlns:p14="http://schemas.microsoft.com/office/powerpoint/2010/main" val="780911673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65C5D7-67CC-CEED-1478-3D8F53482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15</a:t>
            </a:fld>
            <a:endParaRPr lang="en-001"/>
          </a:p>
        </p:txBody>
      </p:sp>
      <p:pic>
        <p:nvPicPr>
          <p:cNvPr id="4" name="Picture 3" descr="A graph of green and orange lines&#10;&#10;AI-generated content may be incorrect.">
            <a:extLst>
              <a:ext uri="{FF2B5EF4-FFF2-40B4-BE49-F238E27FC236}">
                <a16:creationId xmlns:a16="http://schemas.microsoft.com/office/drawing/2014/main" id="{B27235EC-D718-1BB0-11B9-8CC9A92BF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07" y="519659"/>
            <a:ext cx="11717385" cy="58186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7F8574-A73B-03B9-B81F-EB278E62A633}"/>
              </a:ext>
            </a:extLst>
          </p:cNvPr>
          <p:cNvSpPr txBox="1"/>
          <p:nvPr/>
        </p:nvSpPr>
        <p:spPr>
          <a:xfrm>
            <a:off x="174432" y="101540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Customer Testimonial Campaign Type Drove Compare Health Coverage Peak &amp; Fall</a:t>
            </a:r>
            <a:endParaRPr lang="en-001" sz="2000" b="1" dirty="0"/>
          </a:p>
        </p:txBody>
      </p:sp>
    </p:spTree>
    <p:extLst>
      <p:ext uri="{BB962C8B-B14F-4D97-AF65-F5344CB8AC3E}">
        <p14:creationId xmlns:p14="http://schemas.microsoft.com/office/powerpoint/2010/main" val="198434096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767FA-2950-5228-EEE9-046C20C54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D2A2-DA9C-B93D-4711-7643D7D0D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Recommendations &amp; Next Steps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5A86E4-33F7-E861-0F0A-81B09DDA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021169027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0A9CE-B201-BB58-4FC0-95B9BD288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Key recommendations</a:t>
            </a:r>
            <a:endParaRPr lang="en-001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E63174-3F77-25DA-53BA-4B7DBC9EED1C}"/>
              </a:ext>
            </a:extLst>
          </p:cNvPr>
          <p:cNvSpPr txBox="1"/>
          <p:nvPr/>
        </p:nvSpPr>
        <p:spPr>
          <a:xfrm>
            <a:off x="838200" y="2148573"/>
            <a:ext cx="10515600" cy="383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indent="0" algn="just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20000"/>
              </a:lnSpc>
            </a:pPr>
            <a:r>
              <a:rPr lang="en-GB" sz="1800" dirty="0"/>
              <a:t>Increase Awareness &amp; Signups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1" dirty="0"/>
              <a:t>Reallocate Marketing Budget</a:t>
            </a:r>
            <a:r>
              <a:rPr lang="en-GB" dirty="0"/>
              <a:t>: Shift budget from Golden Years Security &amp; #InsureYourHealth to Health For All &amp; Compare Health Coverage campaigns. This leads to a </a:t>
            </a:r>
            <a:r>
              <a:rPr lang="en-GB" b="1" dirty="0"/>
              <a:t>17% boost in CTR</a:t>
            </a:r>
            <a:r>
              <a:rPr lang="en-GB" dirty="0"/>
              <a:t> and a </a:t>
            </a:r>
            <a:r>
              <a:rPr lang="en-GB" b="1" dirty="0"/>
              <a:t>13% boost in signup rate</a:t>
            </a:r>
            <a:r>
              <a:rPr lang="en-GB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1" dirty="0"/>
              <a:t>Expand Customer Testimonials</a:t>
            </a:r>
            <a:r>
              <a:rPr lang="en-GB" dirty="0"/>
              <a:t>: High CTR of 31%, Signup Rate of 3.5%, and low CPS of $1.8 within Compare Health Coverage shows immense potential. Expand campaign type to </a:t>
            </a:r>
            <a:r>
              <a:rPr lang="en-GB" b="1" dirty="0"/>
              <a:t>Health For All, Coverage Matters, and Healthy Living</a:t>
            </a:r>
            <a:r>
              <a:rPr lang="en-GB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1" dirty="0"/>
              <a:t>Investigate Category-Type Pairs</a:t>
            </a:r>
            <a:r>
              <a:rPr lang="en-GB" dirty="0"/>
              <a:t>: Like with Compare Health Coverage &amp; Customer Testimonials, </a:t>
            </a:r>
            <a:r>
              <a:rPr lang="en-GB" b="1" dirty="0"/>
              <a:t>dive deeper into copy types that work best with specific campaigns</a:t>
            </a:r>
            <a:r>
              <a:rPr lang="en-GB" dirty="0"/>
              <a:t> together with the marketing team (see </a:t>
            </a:r>
            <a:r>
              <a:rPr lang="en-GB" dirty="0">
                <a:hlinkClick r:id="rId3" action="ppaction://hlinksldjump"/>
              </a:rPr>
              <a:t>appendix</a:t>
            </a:r>
            <a:r>
              <a:rPr lang="en-GB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1" dirty="0"/>
              <a:t>Consider Plan Modifications</a:t>
            </a:r>
            <a:r>
              <a:rPr lang="en-GB" dirty="0"/>
              <a:t>: High CPS ($491) and few customers (12) for platinum plan ($491); average CTR (11%) &amp; low signup rate (0.2%) for bronze plan. Consider </a:t>
            </a:r>
            <a:r>
              <a:rPr lang="en-GB" b="1" dirty="0"/>
              <a:t>eliminating platinum plan</a:t>
            </a:r>
            <a:r>
              <a:rPr lang="en-GB" dirty="0"/>
              <a:t> due to few signups &amp; </a:t>
            </a:r>
            <a:r>
              <a:rPr lang="en-GB" b="1" dirty="0"/>
              <a:t>improving bronze plan </a:t>
            </a:r>
            <a:r>
              <a:rPr lang="en-GB" dirty="0"/>
              <a:t>if desirable.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B9327-276E-9596-073D-05890669DDB8}"/>
              </a:ext>
            </a:extLst>
          </p:cNvPr>
          <p:cNvSpPr txBox="1"/>
          <p:nvPr/>
        </p:nvSpPr>
        <p:spPr>
          <a:xfrm>
            <a:off x="838200" y="1771353"/>
            <a:ext cx="10515600" cy="296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200" dirty="0"/>
              <a:t>Recommendations either propose to </a:t>
            </a:r>
            <a:r>
              <a:rPr lang="en-GB" sz="1200" b="1" dirty="0"/>
              <a:t>improve resource allocation</a:t>
            </a:r>
            <a:r>
              <a:rPr lang="en-GB" sz="1200" dirty="0"/>
              <a:t> or </a:t>
            </a:r>
            <a:r>
              <a:rPr lang="en-GB" sz="1200" b="1" dirty="0"/>
              <a:t>adjust marketing &amp; product strategies</a:t>
            </a:r>
            <a:r>
              <a:rPr lang="en-GB" sz="1200" dirty="0"/>
              <a:t> for efficiency gains.</a:t>
            </a:r>
            <a:endParaRPr lang="en-001" sz="12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B6C428-FCDA-F934-15A7-0E9AD5287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137441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uiExpand="1" build="p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93823-F914-B8FF-7F05-DB966954C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Caveats &amp; next steps</a:t>
            </a:r>
            <a:endParaRPr lang="en-001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BE656E-B7BE-FB7D-0FD7-DBADEAAC7E99}"/>
              </a:ext>
            </a:extLst>
          </p:cNvPr>
          <p:cNvSpPr txBox="1"/>
          <p:nvPr/>
        </p:nvSpPr>
        <p:spPr>
          <a:xfrm>
            <a:off x="838200" y="1690688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 improve analysis, we recommend the following:</a:t>
            </a:r>
            <a:endParaRPr lang="en-00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25148-161C-1D2E-889D-A57C1FC2B8AA}"/>
              </a:ext>
            </a:extLst>
          </p:cNvPr>
          <p:cNvSpPr txBox="1"/>
          <p:nvPr/>
        </p:nvSpPr>
        <p:spPr>
          <a:xfrm>
            <a:off x="838200" y="2305580"/>
            <a:ext cx="10515600" cy="338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200" b="1" dirty="0"/>
              <a:t>Address Data Quality Issues: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Family Coverage Plan had no data on clicks.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49 (0.3%) customer signups were not linked to any campaign.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Combining data from separate tables creates nulls in new dimensions.</a:t>
            </a:r>
          </a:p>
          <a:p>
            <a:pPr>
              <a:lnSpc>
                <a:spcPct val="150000"/>
              </a:lnSpc>
            </a:pPr>
            <a:endParaRPr lang="en-GB" sz="1200" dirty="0"/>
          </a:p>
          <a:p>
            <a:pPr>
              <a:lnSpc>
                <a:spcPct val="150000"/>
              </a:lnSpc>
            </a:pPr>
            <a:r>
              <a:rPr lang="en-GB" sz="1200" b="1" dirty="0"/>
              <a:t>Add Dimensions to Improve Analysis: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Campaign start &amp; end dates to link campaign performance with spend over time.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First Touch to link marketing channels to signups.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Customer Claims to explore links between campaign types and claim amount &amp; categories.</a:t>
            </a:r>
          </a:p>
          <a:p>
            <a:pPr>
              <a:lnSpc>
                <a:spcPct val="150000"/>
              </a:lnSpc>
            </a:pPr>
            <a:endParaRPr lang="en-GB" sz="1200" dirty="0"/>
          </a:p>
          <a:p>
            <a:pPr>
              <a:lnSpc>
                <a:spcPct val="150000"/>
              </a:lnSpc>
            </a:pPr>
            <a:r>
              <a:rPr lang="en-GB" sz="1200" b="1" dirty="0"/>
              <a:t>Explore Dashboard for Self-Serve Insights: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Uncover specific insights &amp; visualise trends using Tableau dashboard here.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423B23-5555-5161-F7FA-E9CC8B5AB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18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877827607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27103-EDF3-1464-0BE0-6699E5352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91A6A-2104-6D45-692B-64A9FFC2E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Thank You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5A055F-663F-9D9F-6E9E-D6061E7ED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19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85017962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2C11E-4DC9-9DBE-4904-B9F1E08EE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388D9-DBBC-7776-F962-FE297B9C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Appendix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F3C667-18CD-D378-D143-AAC6EA2A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87452733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C10E7-6F2C-8A73-AB37-1A287A3A3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Technical Process</a:t>
            </a:r>
            <a:endParaRPr lang="en-001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C9465B-99FB-B982-640C-D0106F2403D8}"/>
              </a:ext>
            </a:extLst>
          </p:cNvPr>
          <p:cNvSpPr txBox="1"/>
          <p:nvPr/>
        </p:nvSpPr>
        <p:spPr>
          <a:xfrm>
            <a:off x="838200" y="1892300"/>
            <a:ext cx="10515600" cy="449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200" b="1" dirty="0"/>
              <a:t>Dataset stats: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16,338 customer records analysed across 49,998 claims and 57 campaigns.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Time period under consideration – signups from Jan 2019 to Jul 2023.</a:t>
            </a:r>
          </a:p>
          <a:p>
            <a:pPr>
              <a:lnSpc>
                <a:spcPct val="150000"/>
              </a:lnSpc>
            </a:pPr>
            <a:endParaRPr lang="en-GB" sz="1200" dirty="0"/>
          </a:p>
          <a:p>
            <a:pPr>
              <a:lnSpc>
                <a:spcPct val="150000"/>
              </a:lnSpc>
            </a:pPr>
            <a:r>
              <a:rPr lang="en-GB" sz="1200" b="1" dirty="0"/>
              <a:t>Analysis Process: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Reporting &amp; Insights Manager requested dashboard to self-serve key marketing insights during QBR meetings.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Analysed stakeholder requirements to define 3 North Star Metrics (Signup Rate, CPS, CTR) &amp; identified key dimensions as campaign categories, category types, signup &amp; claim distributions, plan, &amp; state.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Loaded Excel data into Tableau Desktop.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Built self-serve dashboard following skeleton in Tableau using component charts, tables, &amp; graphs.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Analysed NS Metrics across areas of interest using line graphs, bar charts, scatterplots, and tables to gather insights.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Loaded Campaign signup, claims, and impressions data into Python.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Conducted Chi-Square test to determine statistical significance of differences in NS metrics within campaign categories.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Formulated recommendations based on stakeholder areas of interest.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Included caveats &amp; future steps in report to dive deeper into analysis – minimal data cleaning was required.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Future data cleaning could check for non-sensical values &amp; nulls.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47F9-4A02-D8CC-5335-3546F3CE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42663543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03F847-8962-EB0D-187F-C0C9853D7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22</a:t>
            </a:fld>
            <a:endParaRPr lang="en-001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27B27F5-5B58-7AF1-649D-205280A8F276}"/>
              </a:ext>
            </a:extLst>
          </p:cNvPr>
          <p:cNvGrpSpPr/>
          <p:nvPr/>
        </p:nvGrpSpPr>
        <p:grpSpPr>
          <a:xfrm>
            <a:off x="3411652" y="521269"/>
            <a:ext cx="5368696" cy="5815462"/>
            <a:chOff x="3411652" y="540888"/>
            <a:chExt cx="5368696" cy="581546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D25A0F2-FB85-FBE3-CBDC-A5E434A997E3}"/>
                </a:ext>
              </a:extLst>
            </p:cNvPr>
            <p:cNvSpPr txBox="1"/>
            <p:nvPr/>
          </p:nvSpPr>
          <p:spPr>
            <a:xfrm>
              <a:off x="3411652" y="540888"/>
              <a:ext cx="53686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400" b="1" dirty="0"/>
                <a:t>Costs Incurred per Campaign</a:t>
              </a:r>
              <a:endParaRPr lang="en-001" sz="2400" b="1" dirty="0"/>
            </a:p>
          </p:txBody>
        </p:sp>
        <p:pic>
          <p:nvPicPr>
            <p:cNvPr id="8" name="Picture 7" descr="A screenshot of a phone&#10;&#10;AI-generated content may be incorrect.">
              <a:extLst>
                <a:ext uri="{FF2B5EF4-FFF2-40B4-BE49-F238E27FC236}">
                  <a16:creationId xmlns:a16="http://schemas.microsoft.com/office/drawing/2014/main" id="{936362A4-BD39-4B82-2B2B-47BA0C7C5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0681" y="1002553"/>
              <a:ext cx="4210638" cy="53537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572045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DB1206-BFF1-E290-5202-37A07F601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23</a:t>
            </a:fld>
            <a:endParaRPr lang="en-001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D34A37A-2798-30C0-9B9B-1192E39673C5}"/>
              </a:ext>
            </a:extLst>
          </p:cNvPr>
          <p:cNvGrpSpPr>
            <a:grpSpLocks noChangeAspect="1"/>
          </p:cNvGrpSpPr>
          <p:nvPr/>
        </p:nvGrpSpPr>
        <p:grpSpPr>
          <a:xfrm>
            <a:off x="479479" y="1371599"/>
            <a:ext cx="5376782" cy="4259580"/>
            <a:chOff x="185373" y="317500"/>
            <a:chExt cx="4480652" cy="3549650"/>
          </a:xfrm>
        </p:grpSpPr>
        <p:pic>
          <p:nvPicPr>
            <p:cNvPr id="4" name="Picture 3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02D1F311-F401-F92A-A97B-88238F4EE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98241"/>
            <a:stretch>
              <a:fillRect/>
            </a:stretch>
          </p:blipFill>
          <p:spPr>
            <a:xfrm>
              <a:off x="185374" y="317500"/>
              <a:ext cx="4480651" cy="120650"/>
            </a:xfrm>
            <a:prstGeom prst="rect">
              <a:avLst/>
            </a:prstGeom>
          </p:spPr>
        </p:pic>
        <p:pic>
          <p:nvPicPr>
            <p:cNvPr id="8" name="Picture 7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57C207E7-E1E9-2836-30D7-0F6B725E7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30" b="48176"/>
            <a:stretch>
              <a:fillRect/>
            </a:stretch>
          </p:blipFill>
          <p:spPr>
            <a:xfrm>
              <a:off x="185373" y="438150"/>
              <a:ext cx="4480651" cy="3429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8310E9-C626-DDA7-6C55-DD6A23BDF0D2}"/>
              </a:ext>
            </a:extLst>
          </p:cNvPr>
          <p:cNvGrpSpPr>
            <a:grpSpLocks noChangeAspect="1"/>
          </p:cNvGrpSpPr>
          <p:nvPr/>
        </p:nvGrpSpPr>
        <p:grpSpPr>
          <a:xfrm>
            <a:off x="6335740" y="1447767"/>
            <a:ext cx="5376782" cy="4107245"/>
            <a:chOff x="7125923" y="317500"/>
            <a:chExt cx="4480652" cy="3422704"/>
          </a:xfrm>
        </p:grpSpPr>
        <p:pic>
          <p:nvPicPr>
            <p:cNvPr id="5" name="Picture 4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2B529856-0881-F1DD-5459-05945EBD8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98241"/>
            <a:stretch>
              <a:fillRect/>
            </a:stretch>
          </p:blipFill>
          <p:spPr>
            <a:xfrm>
              <a:off x="7125924" y="317500"/>
              <a:ext cx="4480651" cy="120650"/>
            </a:xfrm>
            <a:prstGeom prst="rect">
              <a:avLst/>
            </a:prstGeom>
          </p:spPr>
        </p:pic>
        <p:pic>
          <p:nvPicPr>
            <p:cNvPr id="9" name="Picture 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1B83D0E5-E431-6435-12C9-8DC2C463D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824" b="35"/>
            <a:stretch>
              <a:fillRect/>
            </a:stretch>
          </p:blipFill>
          <p:spPr>
            <a:xfrm>
              <a:off x="7125923" y="438150"/>
              <a:ext cx="4480651" cy="3302054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75F97FB-1D06-AFAE-EC2D-DB6E2403EA29}"/>
              </a:ext>
            </a:extLst>
          </p:cNvPr>
          <p:cNvSpPr txBox="1"/>
          <p:nvPr/>
        </p:nvSpPr>
        <p:spPr>
          <a:xfrm>
            <a:off x="479479" y="415596"/>
            <a:ext cx="1123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Signup &amp; Marketing Metrics Across Campaign Categories &amp; Types</a:t>
            </a:r>
            <a:endParaRPr lang="en-001" sz="2400" b="1" dirty="0"/>
          </a:p>
        </p:txBody>
      </p:sp>
    </p:spTree>
    <p:extLst>
      <p:ext uri="{BB962C8B-B14F-4D97-AF65-F5344CB8AC3E}">
        <p14:creationId xmlns:p14="http://schemas.microsoft.com/office/powerpoint/2010/main" val="222006488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ntserrat">
      <a:majorFont>
        <a:latin typeface="Montserrat Semi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_xmlsignatures/_rels/origin.sigs.rels><?xml version="1.0" encoding="UTF-8" standalone="yes"?>
<Relationships xmlns="http://schemas.openxmlformats.org/package/2006/relationships"><Relationship Id="rId1" Type="http://schemas.openxmlformats.org/package/2006/relationships/digital-signature/signature" Target="sig1.xml"/></Relationships>
</file>

<file path=_xmlsignatures/sig1.xml><?xml version="1.0" encoding="utf-8"?>
<Signature xmlns="http://www.w3.org/2000/09/xmldsig#" Id="idPackageSignature">
  <SignedInfo>
    <CanonicalizationMethod Algorithm="http://www.w3.org/TR/2001/REC-xml-c14n-20010315"/>
    <SignatureMethod Algorithm="http://www.w3.org/2001/04/xmldsig-more#ecdsa-sha384"/>
    <Reference Type="http://www.w3.org/2000/09/xmldsig#Object" URI="#idPackageObject">
      <DigestMethod Algorithm="http://www.w3.org/2001/04/xmldsig-more#sha384"/>
      <DigestValue>Ucbopaa+l8Xy9BEG/JZiJvQX1TCdfpdrjFtvCmztRR/fHjx6shpubggUgSk/6qX/</DigestValue>
    </Reference>
    <Reference Type="http://www.w3.org/2000/09/xmldsig#Object" URI="#idOfficeObject">
      <DigestMethod Algorithm="http://www.w3.org/2001/04/xmldsig-more#sha384"/>
      <DigestValue>T0v8ad2wjX6whgkGzL21DARo1qXUXDYi8uHs4RPCiD5WmSA47+L/QrXWNgHzyhEh</DigestValue>
    </Reference>
    <Reference Type="http://uri.etsi.org/01903#SignedProperties" URI="#idSignedProperties">
      <Transforms>
        <Transform Algorithm="http://www.w3.org/TR/2001/REC-xml-c14n-20010315"/>
      </Transforms>
      <DigestMethod Algorithm="http://www.w3.org/2001/04/xmldsig-more#sha384"/>
      <DigestValue>KsYtW33O7vOboGDvmtKP5u8bLnn0QXxG69ezF6RoyTTycGzPCIiXDN6i4IgMqKip</DigestValue>
    </Reference>
  </SignedInfo>
  <SignatureValue>iSg/iC5K1PspltYbrx5me7JX9fPKVbhvRLVBXqKiutKNvoTscyn8claXx1Z2zkoCZBMeOXpAuSD3
aRVDHQl5tFmMX4V6/Fj/ozaIfodNrq4GdT5VQTgU9J8h4h8w5WrK</SignatureValue>
  <KeyInfo>
    <X509Data>
      <X509Certificate>MIIB8DCCAXWgAwIBAgIIJwHSAckpfiYwCgYIKoZIzj0EAwMwXzFdMFsGA1UEAx5UAHQAcgB1AHMAdABfAGUANQAyADYANwAwADUAZgAtAGIAYQA1ADMALQA0AGQAZgA5AC0AYQBjAGMAYQAtAGEAOAA5AGQAMAAwADkANABjAGIAMgAzMB4XDTI1MDczMDE4MzY1NFoXDTI2MDczMTA2MzY1NFowXzFdMFsGA1UEAx5UAHQAcgB1AHMAdABfAGUANQAyADYANwAwADUAZgAtAGIAYQA1ADMALQA0AGQAZgA5AC0AYQBjAGMAYQAtAGEAOAA5AGQAMAAwADkANABjAGIAMgAzMHYwEAYHKoZIzj0CAQYFK4EEACIDYgAEettPQYhotUhAySoeU60mQO9UfLNSrnbibhxcSGMdoVrwr7th5V+TyTnhBEqo8V5gRE1g4SOiDB9XOrxSHwI1lLT+DheNES3X1migt4LWyAVSiPvysmE6iW1owcA4UMPlMAoGCCqGSM49BAMDA2kAMGYCMQDA7q1bPZUCObPJtgurR+xLuRDML925uLeAO9KWo1GvMIJDuIGuSv56xSqs6zuYOQ0CMQCQR6vP5Oddwp4MB/AevH9GZGN9dhxw44OZbJ3kvj2Pjans6wCK9aVbABoppSPMi6c=</X509Certificate>
    </X509Data>
  </KeyInfo>
  <Object Id="idPackageObject">
    <Manifest>
      <Reference URI="/_rels/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LqXyoR7Obg/4ueBgP4vHEvDgJw1Of/31pxr5yH6uWCIENB5OwyEPinwaaq2GV2LQ</DigestValue>
      </Reference>
      <Reference URI="/ppt/_rels/presentation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6"/>
            <mdssi:RelationshipReference xmlns:mdssi="http://schemas.openxmlformats.org/package/2006/digital-signature" SourceId="rId11"/>
            <mdssi:RelationshipReference xmlns:mdssi="http://schemas.openxmlformats.org/package/2006/digital-signature" SourceId="rId24"/>
            <mdssi:RelationshipReference xmlns:mdssi="http://schemas.openxmlformats.org/package/2006/digital-signature" SourceId="rId5"/>
            <mdssi:RelationshipReference xmlns:mdssi="http://schemas.openxmlformats.org/package/2006/digital-signature" SourceId="rId15"/>
            <mdssi:RelationshipReference xmlns:mdssi="http://schemas.openxmlformats.org/package/2006/digital-signature" SourceId="rId23"/>
            <mdssi:RelationshipReference xmlns:mdssi="http://schemas.openxmlformats.org/package/2006/digital-signature" SourceId="rId28"/>
            <mdssi:RelationshipReference xmlns:mdssi="http://schemas.openxmlformats.org/package/2006/digital-signature" SourceId="rId10"/>
            <mdssi:RelationshipReference xmlns:mdssi="http://schemas.openxmlformats.org/package/2006/digital-signature" SourceId="rId19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14"/>
            <mdssi:RelationshipReference xmlns:mdssi="http://schemas.openxmlformats.org/package/2006/digital-signature" SourceId="rId22"/>
            <mdssi:RelationshipReference xmlns:mdssi="http://schemas.openxmlformats.org/package/2006/digital-signature" SourceId="rId27"/>
            <mdssi:RelationshipReference xmlns:mdssi="http://schemas.openxmlformats.org/package/2006/digital-signature" SourceId="rId30"/>
            <mdssi:RelationshipReference xmlns:mdssi="http://schemas.openxmlformats.org/package/2006/digital-signature" SourceId="rId8"/>
            <mdssi:RelationshipReference xmlns:mdssi="http://schemas.openxmlformats.org/package/2006/digital-signature" SourceId="rId13"/>
            <mdssi:RelationshipReference xmlns:mdssi="http://schemas.openxmlformats.org/package/2006/digital-signature" SourceId="rId18"/>
            <mdssi:RelationshipReference xmlns:mdssi="http://schemas.openxmlformats.org/package/2006/digital-signature" SourceId="rId26"/>
            <mdssi:RelationshipReference xmlns:mdssi="http://schemas.openxmlformats.org/package/2006/digital-signature" SourceId="rId3"/>
            <mdssi:RelationshipReference xmlns:mdssi="http://schemas.openxmlformats.org/package/2006/digital-signature" SourceId="rId21"/>
            <mdssi:RelationshipReference xmlns:mdssi="http://schemas.openxmlformats.org/package/2006/digital-signature" SourceId="rId7"/>
            <mdssi:RelationshipReference xmlns:mdssi="http://schemas.openxmlformats.org/package/2006/digital-signature" SourceId="rId12"/>
            <mdssi:RelationshipReference xmlns:mdssi="http://schemas.openxmlformats.org/package/2006/digital-signature" SourceId="rId17"/>
            <mdssi:RelationshipReference xmlns:mdssi="http://schemas.openxmlformats.org/package/2006/digital-signature" SourceId="rId25"/>
            <mdssi:RelationshipReference xmlns:mdssi="http://schemas.openxmlformats.org/package/2006/digital-signature" SourceId="rId2"/>
            <mdssi:RelationshipReference xmlns:mdssi="http://schemas.openxmlformats.org/package/2006/digital-signature" SourceId="rId16"/>
            <mdssi:RelationshipReference xmlns:mdssi="http://schemas.openxmlformats.org/package/2006/digital-signature" SourceId="rId20"/>
            <mdssi:RelationshipReference xmlns:mdssi="http://schemas.openxmlformats.org/package/2006/digital-signature" SourceId="rId29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W/rBKqMSi4NUeNyy+b/CXqISyS9lIhDQ5eoaLejE3RQEgWLaC0Yr+CPHLLwkKowO</DigestValue>
      </Reference>
      <Reference URI="/ppt/handoutMasters/_rels/handoutMaster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pebE946kd+Vv9RjJn7yAG+HldXry+v426NQQOODV6/5sL4EUu+sX9AeKgrDUNpy+</DigestValue>
      </Reference>
      <Reference URI="/ppt/handoutMasters/handoutMaster1.xml?ContentType=application/vnd.openxmlformats-officedocument.presentationml.handoutMaster+xml">
        <DigestMethod Algorithm="http://www.w3.org/2001/04/xmldsig-more#sha384"/>
        <DigestValue>3JN8rLj0AzmG38KNUvKRAy1peNo1V0lhjXumyKTX9fM6W1LcRFnz8yFQLU04u1Kx</DigestValue>
      </Reference>
      <Reference URI="/ppt/media/image1.png?ContentType=image/png">
        <DigestMethod Algorithm="http://www.w3.org/2001/04/xmldsig-more#sha384"/>
        <DigestValue>V/eHGEc+ZYTpwGU6j83eiAVVCVrilQq1uDGa8ZVfQPru8vcBfnxfMy4z8jQNhy+z</DigestValue>
      </Reference>
      <Reference URI="/ppt/media/image10.png?ContentType=image/png">
        <DigestMethod Algorithm="http://www.w3.org/2001/04/xmldsig-more#sha384"/>
        <DigestValue>iiuCVkjXrz70JPmdUmwWO+mKgFHDdab+cUfRFOT7RZkuXBlNMIRhpDHuBEjThc7P</DigestValue>
      </Reference>
      <Reference URI="/ppt/media/image11.png?ContentType=image/png">
        <DigestMethod Algorithm="http://www.w3.org/2001/04/xmldsig-more#sha384"/>
        <DigestValue>lUe0aA3EMtVS9ryx/eLVVj9opk0IWKhRmlpAEtJqR+AwaykC77EkdQpGMQv4ee9D</DigestValue>
      </Reference>
      <Reference URI="/ppt/media/image2.png?ContentType=image/png">
        <DigestMethod Algorithm="http://www.w3.org/2001/04/xmldsig-more#sha384"/>
        <DigestValue>1Vh5iSGT2OpP4W5pg5DlzkXx42T+48hj6XPuF94ksKUkHB6Tjjg9zzUm0jOQ3D4I</DigestValue>
      </Reference>
      <Reference URI="/ppt/media/image3.png?ContentType=image/png">
        <DigestMethod Algorithm="http://www.w3.org/2001/04/xmldsig-more#sha384"/>
        <DigestValue>G3J4rycDfkZ8AyXSVkpFIUl9rq3edi4m5ASbA8+kAvQJNZ5LLOIaP6siWjNzfzs+</DigestValue>
      </Reference>
      <Reference URI="/ppt/media/image4.png?ContentType=image/png">
        <DigestMethod Algorithm="http://www.w3.org/2001/04/xmldsig-more#sha384"/>
        <DigestValue>g+8tiWVKs2OpaaE5nn9AArkm32Q6zKP5P/V0lGbTneXCf7lPZWbfhH++qyF5ksAd</DigestValue>
      </Reference>
      <Reference URI="/ppt/media/image5.png?ContentType=image/png">
        <DigestMethod Algorithm="http://www.w3.org/2001/04/xmldsig-more#sha384"/>
        <DigestValue>9fs+E5atqGIPi6QwFfU0z3f+8kPzL/IIG3c4BzvdZQmzDrJSga8LfTz+fWdN1pBQ</DigestValue>
      </Reference>
      <Reference URI="/ppt/media/image6.png?ContentType=image/png">
        <DigestMethod Algorithm="http://www.w3.org/2001/04/xmldsig-more#sha384"/>
        <DigestValue>Gt162i1/3Bt+qfC7BPhIo8CPJ8nZUIiAf/g4DpA+J7i02NRiKPiMp4KhQr+vzqSb</DigestValue>
      </Reference>
      <Reference URI="/ppt/media/image7.png?ContentType=image/png">
        <DigestMethod Algorithm="http://www.w3.org/2001/04/xmldsig-more#sha384"/>
        <DigestValue>4aQYdL+aqENSa8E+91juuyeKx86F0QhjQ+z7jUMFvotovoMK7F5GttAy6PH63tJN</DigestValue>
      </Reference>
      <Reference URI="/ppt/media/image8.png?ContentType=image/png">
        <DigestMethod Algorithm="http://www.w3.org/2001/04/xmldsig-more#sha384"/>
        <DigestValue>n3fqxu+dQOwLR5YYD3V/3eHxp70jEys5yWdVvCdMW0U+Y1Nbn3UeOyfcHcFnbqTG</DigestValue>
      </Reference>
      <Reference URI="/ppt/media/image9.png?ContentType=image/png">
        <DigestMethod Algorithm="http://www.w3.org/2001/04/xmldsig-more#sha384"/>
        <DigestValue>YyzvXielMhzg059IlGrM5VLzF76b/mdP+jckb5SJL+q2Fr5YpkYXUo897hkuLJpY</DigestValue>
      </Reference>
      <Reference URI="/ppt/notesMasters/_rels/notesMaster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6GF4njRtqifBZv5m6c5mKZFRlXJ6lHj8DyzDzpU+ANw/HaG5z6hgkqFR9lZjIecB</DigestValue>
      </Reference>
      <Reference URI="/ppt/notesMasters/notesMaster1.xml?ContentType=application/vnd.openxmlformats-officedocument.presentationml.notesMaster+xml">
        <DigestMethod Algorithm="http://www.w3.org/2001/04/xmldsig-more#sha384"/>
        <DigestValue>H7TrRKUi9IuOBpePi23MtHTW3tV6uPYXsrzI1wUpSHSOj9Z/a9u/DFsqGILvRRI8</DigestValue>
      </Reference>
      <Reference URI="/ppt/notesSlides/_rels/notesSlide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PBBMVVrxP+XLxD2TK7kUIMuTDbZY2itN+6ePp1CZ9HAlmPeZLQrMmb0mA+KXMgy1</DigestValue>
      </Reference>
      <Reference URI="/ppt/notesSlides/_rels/notesSlide1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nQQe0+2/E+JgKT9/W2eAfv9wnnBUU5Fm8N5hH64sewKJaEjzD+rUiYTTiHwW9lFO</DigestValue>
      </Reference>
      <Reference URI="/ppt/notesSlides/_rels/notesSlide1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fXQ7xhU5/xt5rL9XCuTIxGT2MqhI/GA8rsQSjgXSsMf7fBHDN6PNhFij+Dcu/KhL</DigestValue>
      </Reference>
      <Reference URI="/ppt/notesSlides/_rels/notesSlide1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S2EzQGq048HemqUwFnpqAnK3KFQRBXARfZ9wPmorNQJz37XjqC/WsnGceuPs7shT</DigestValue>
      </Reference>
      <Reference URI="/ppt/notesSlides/_rels/notesSlide1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lBrUXkNur0iJkNc9jkcWTJiPx8MtuCbicigc2nyVlYYxcRwZ34NScV1XiHNTn1eb</DigestValue>
      </Reference>
      <Reference URI="/ppt/notesSlides/_rels/notesSlide1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nwFYP8dldp5G0pODjTKe5pUwMYxTNAsnVxJqTPQH39e6X7B8nIXg05Aznq90FXXx</DigestValue>
      </Reference>
      <Reference URI="/ppt/notesSlides/_rels/notesSlide1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gc5hmr/STT4aMFiklqrpi5kV/3UjpPhaYQtx67cBYQX9Hk9fJ6mFv/p4h4+cafY3</DigestValue>
      </Reference>
      <Reference URI="/ppt/notesSlides/_rels/notesSlide1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bccJGoFAUfWMYY8DngzyLOSngaF3lVIUqf+3sdcCJHXHu4qMaORRDXmsiUWO1ESz</DigestValue>
      </Reference>
      <Reference URI="/ppt/notesSlides/_rels/notesSlide1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thbXP6vSH7lTUPQEXhssBhLO9Eg8JsNq/bnunTGEsRczVgSLp//zK+Oh+fLRnIdD</DigestValue>
      </Reference>
      <Reference URI="/ppt/notesSlides/_rels/notesSlide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PQfNK/R1My/CotqNUlNBaMfFqmdbSVtcBX/2CbcqtBrShLPoVFXFYIYG7Tkp5upw</DigestValue>
      </Reference>
      <Reference URI="/ppt/notesSlides/_rels/notesSlide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H1GcY+PrErmGBmUw9SRPJ0n63H9DUxDBfhh3sqDjibhp4x+ihL78nc9fGnPUUne3</DigestValue>
      </Reference>
      <Reference URI="/ppt/notesSlides/_rels/notesSlide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v3/+sGlBf7PI+6E+0DuibBwKGhG/mK3ZGUKE6/oteAcp8syi3OFWGKvF3EDveLtV</DigestValue>
      </Reference>
      <Reference URI="/ppt/notesSlides/_rels/notesSlide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OlHEFSVDKksUQDl4SIuxVd7/TG78THEs6GiIKUaBoNa3lnbiyH85Tqzj9/pm0z28</DigestValue>
      </Reference>
      <Reference URI="/ppt/notesSlides/_rels/notesSlide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4r/1/g0jjt/L8YU3+FWn2+Hyan1JOQSANhqfBPSwTIy/vboUFJFleVfPKhTf57kc</DigestValue>
      </Reference>
      <Reference URI="/ppt/notesSlides/_rels/notesSlide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cVy/nnOmPPCI7TcnC8Wpx+IBDMxeUGcCJw6m4GEw1axjP724Ux08H2BrH3idkeUw</DigestValue>
      </Reference>
      <Reference URI="/ppt/notesSlides/_rels/notesSlide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8lAiY+wZAQIXUoqEievCfMhubX7rISXuwtQ6V4XJwJBhBeATq9Y72ckEzlhJgueC</DigestValue>
      </Reference>
      <Reference URI="/ppt/notesSlides/_rels/notesSlide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QCbr0v895qo3oWCs84a69DrD/z0Sl90WuHXnQHQQPSekBmhN1Aftuf4PWjf4paNl</DigestValue>
      </Reference>
      <Reference URI="/ppt/notesSlides/notesSlide1.xml?ContentType=application/vnd.openxmlformats-officedocument.presentationml.notesSlide+xml">
        <DigestMethod Algorithm="http://www.w3.org/2001/04/xmldsig-more#sha384"/>
        <DigestValue>lPVUNXVOWyhdXFm1VWcdi9HoSBznmNEzd8B8koJYfvqOwgl6+K/HtzPQRVPdiAN0</DigestValue>
      </Reference>
      <Reference URI="/ppt/notesSlides/notesSlide10.xml?ContentType=application/vnd.openxmlformats-officedocument.presentationml.notesSlide+xml">
        <DigestMethod Algorithm="http://www.w3.org/2001/04/xmldsig-more#sha384"/>
        <DigestValue>G6dQRSTfgAPYsND/lBXHmLX+SRcsN36xtiPXN7GOqrMMroUswdi59Cjw1tpdatW3</DigestValue>
      </Reference>
      <Reference URI="/ppt/notesSlides/notesSlide11.xml?ContentType=application/vnd.openxmlformats-officedocument.presentationml.notesSlide+xml">
        <DigestMethod Algorithm="http://www.w3.org/2001/04/xmldsig-more#sha384"/>
        <DigestValue>7RH2z5PFMXk0MyCMQt15Krzegr30tNfSU2OGdQCd1pLdsq11ZoZNRDy+JiifPTtw</DigestValue>
      </Reference>
      <Reference URI="/ppt/notesSlides/notesSlide12.xml?ContentType=application/vnd.openxmlformats-officedocument.presentationml.notesSlide+xml">
        <DigestMethod Algorithm="http://www.w3.org/2001/04/xmldsig-more#sha384"/>
        <DigestValue>tv7E8iES/BGnqlfpqMy8BG6jK6RamSn3j5AidptEgDu1ZkqEM2FXyCWjR94RNRfe</DigestValue>
      </Reference>
      <Reference URI="/ppt/notesSlides/notesSlide13.xml?ContentType=application/vnd.openxmlformats-officedocument.presentationml.notesSlide+xml">
        <DigestMethod Algorithm="http://www.w3.org/2001/04/xmldsig-more#sha384"/>
        <DigestValue>6ev55zmHHcgu7W4ckrclG4czvh+KBH4/iF9F0qo3JkVTqh67TjUCqsUOVXLPLI2/</DigestValue>
      </Reference>
      <Reference URI="/ppt/notesSlides/notesSlide14.xml?ContentType=application/vnd.openxmlformats-officedocument.presentationml.notesSlide+xml">
        <DigestMethod Algorithm="http://www.w3.org/2001/04/xmldsig-more#sha384"/>
        <DigestValue>E2otwq4a2JkrABQMy+AGkUkEtUjuOXJZrsz6IOwaJmiqR67U0UpQWJpnqT0BZM35</DigestValue>
      </Reference>
      <Reference URI="/ppt/notesSlides/notesSlide15.xml?ContentType=application/vnd.openxmlformats-officedocument.presentationml.notesSlide+xml">
        <DigestMethod Algorithm="http://www.w3.org/2001/04/xmldsig-more#sha384"/>
        <DigestValue>PM4B9/5E2L9jEfwBvxFQz8PgcK1Kq+kNpumLGAf1Q7ssueQmAP+Vnb1+Jd+2JArq</DigestValue>
      </Reference>
      <Reference URI="/ppt/notesSlides/notesSlide16.xml?ContentType=application/vnd.openxmlformats-officedocument.presentationml.notesSlide+xml">
        <DigestMethod Algorithm="http://www.w3.org/2001/04/xmldsig-more#sha384"/>
        <DigestValue>5ZWI8ORwJPfHOgrdQjYbtS+37Sndh23FV8yUPsWrGWinWE+rUJieZ7+XC6R9Enc1</DigestValue>
      </Reference>
      <Reference URI="/ppt/notesSlides/notesSlide17.xml?ContentType=application/vnd.openxmlformats-officedocument.presentationml.notesSlide+xml">
        <DigestMethod Algorithm="http://www.w3.org/2001/04/xmldsig-more#sha384"/>
        <DigestValue>ZpOtJux7Sf8s7HiFp1R44hNUSmE1EdqRYRlD2XxDJEW50rngoRUupRdaDATcmzn+</DigestValue>
      </Reference>
      <Reference URI="/ppt/notesSlides/notesSlide2.xml?ContentType=application/vnd.openxmlformats-officedocument.presentationml.notesSlide+xml">
        <DigestMethod Algorithm="http://www.w3.org/2001/04/xmldsig-more#sha384"/>
        <DigestValue>tpvZi9xnQlGFFIKbmoyddPm9H0iY0zZgCAF3OUpEZ6i14m5vlNsYOj5a0Qu3LhZ5</DigestValue>
      </Reference>
      <Reference URI="/ppt/notesSlides/notesSlide3.xml?ContentType=application/vnd.openxmlformats-officedocument.presentationml.notesSlide+xml">
        <DigestMethod Algorithm="http://www.w3.org/2001/04/xmldsig-more#sha384"/>
        <DigestValue>l+FtgWt4UuypMbhjnpb1q0K+zw8roRwCW4PyaJtCzW1TfIjxo7JxZP5pV55E6IdQ</DigestValue>
      </Reference>
      <Reference URI="/ppt/notesSlides/notesSlide4.xml?ContentType=application/vnd.openxmlformats-officedocument.presentationml.notesSlide+xml">
        <DigestMethod Algorithm="http://www.w3.org/2001/04/xmldsig-more#sha384"/>
        <DigestValue>5mtNx7XoKxYlseu5x6nMjnB1oNC8fBlYXF1O3M7R1ut/nWWQrUoJHT6P18M+Hflc</DigestValue>
      </Reference>
      <Reference URI="/ppt/notesSlides/notesSlide5.xml?ContentType=application/vnd.openxmlformats-officedocument.presentationml.notesSlide+xml">
        <DigestMethod Algorithm="http://www.w3.org/2001/04/xmldsig-more#sha384"/>
        <DigestValue>b47ppw/p0wpfB2NPRlrDnEgOYMbpMNaJBLYYKCkUde4RU8zUR6BpqUDgni9nngcx</DigestValue>
      </Reference>
      <Reference URI="/ppt/notesSlides/notesSlide6.xml?ContentType=application/vnd.openxmlformats-officedocument.presentationml.notesSlide+xml">
        <DigestMethod Algorithm="http://www.w3.org/2001/04/xmldsig-more#sha384"/>
        <DigestValue>mxEsqsVUoTXWhsVQ1RoqhcCKGSuhkckvkr5ywtOUkdiRXk9sQYhAm6tOqOw4wb5m</DigestValue>
      </Reference>
      <Reference URI="/ppt/notesSlides/notesSlide7.xml?ContentType=application/vnd.openxmlformats-officedocument.presentationml.notesSlide+xml">
        <DigestMethod Algorithm="http://www.w3.org/2001/04/xmldsig-more#sha384"/>
        <DigestValue>J/ta7AFFShcbF+1ywMqkgHwy8os5UlGVKdeiP5+ZgZc+fop0aRyTMs0B2JpxfJ4l</DigestValue>
      </Reference>
      <Reference URI="/ppt/notesSlides/notesSlide8.xml?ContentType=application/vnd.openxmlformats-officedocument.presentationml.notesSlide+xml">
        <DigestMethod Algorithm="http://www.w3.org/2001/04/xmldsig-more#sha384"/>
        <DigestValue>C9DuawJmlEmol//a6fXqR5IamOaS/KDJnTTqSbchAtgC0bYLZoF74WZA9Q5qH46U</DigestValue>
      </Reference>
      <Reference URI="/ppt/notesSlides/notesSlide9.xml?ContentType=application/vnd.openxmlformats-officedocument.presentationml.notesSlide+xml">
        <DigestMethod Algorithm="http://www.w3.org/2001/04/xmldsig-more#sha384"/>
        <DigestValue>G5Og390Hqxi3HHuDkNlGUysCVz30yGOHQWHa1ob1OvpsDNKkIV+9B5oRSQnP74TA</DigestValue>
      </Reference>
      <Reference URI="/ppt/presentation.xml?ContentType=application/vnd.openxmlformats-officedocument.presentationml.presentation.main+xml">
        <DigestMethod Algorithm="http://www.w3.org/2001/04/xmldsig-more#sha384"/>
        <DigestValue>K0AjdIQcUVYFs4/ZiQ9V6pdSTNlx4fKBxBWFCQy/Nk/LXeRENoXmBwM7OUbZIpJM</DigestValue>
      </Reference>
      <Reference URI="/ppt/presProps.xml?ContentType=application/vnd.openxmlformats-officedocument.presentationml.presProps+xml">
        <DigestMethod Algorithm="http://www.w3.org/2001/04/xmldsig-more#sha384"/>
        <DigestValue>FzEK4P8B+GhaQ7PoC8gi9LE28AFKgsBu/aKhmNEC6qWHUoyq3mDN1R5yZBkncOVP</DigestValue>
      </Reference>
      <Reference URI="/ppt/slideLayouts/_rels/slideLayout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1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1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1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_rels/slideLayout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e5Z2ZLBWCWSzq1jjc9b4jWOVw5nYD7YOlRlP0EQIHkWD8Udv39PDj7i3OZoVVXrc</DigestValue>
      </Reference>
      <Reference URI="/ppt/slideLayouts/slideLayout1.xml?ContentType=application/vnd.openxmlformats-officedocument.presentationml.slideLayout+xml">
        <DigestMethod Algorithm="http://www.w3.org/2001/04/xmldsig-more#sha384"/>
        <DigestValue>2asV3iG7rHnWHKM0Lj3Wu7tryCvmBySqCM80bU/64s1XYNY9lJ+dhCzTm7dFbLLu</DigestValue>
      </Reference>
      <Reference URI="/ppt/slideLayouts/slideLayout10.xml?ContentType=application/vnd.openxmlformats-officedocument.presentationml.slideLayout+xml">
        <DigestMethod Algorithm="http://www.w3.org/2001/04/xmldsig-more#sha384"/>
        <DigestValue>BeSpTK/QedcSsJMIEyb47KpOazCAP9AfAwC8aguOUFSVdCWTMAMlR0CLO6DLaoIB</DigestValue>
      </Reference>
      <Reference URI="/ppt/slideLayouts/slideLayout11.xml?ContentType=application/vnd.openxmlformats-officedocument.presentationml.slideLayout+xml">
        <DigestMethod Algorithm="http://www.w3.org/2001/04/xmldsig-more#sha384"/>
        <DigestValue>avHDimJE+4oDuNb6RPkbWLWPwVnVb3FIv55ouenh/2gTlCZpaYupplSTKvWqfpfi</DigestValue>
      </Reference>
      <Reference URI="/ppt/slideLayouts/slideLayout12.xml?ContentType=application/vnd.openxmlformats-officedocument.presentationml.slideLayout+xml">
        <DigestMethod Algorithm="http://www.w3.org/2001/04/xmldsig-more#sha384"/>
        <DigestValue>P3MDDQDUonyyMqlp7sJ6wKtlGk8rL7KY3K0OVpvXK4qdpByEG8VHTi1hpTj/CuY/</DigestValue>
      </Reference>
      <Reference URI="/ppt/slideLayouts/slideLayout2.xml?ContentType=application/vnd.openxmlformats-officedocument.presentationml.slideLayout+xml">
        <DigestMethod Algorithm="http://www.w3.org/2001/04/xmldsig-more#sha384"/>
        <DigestValue>j6JSsjjPwho7E9mPwBONWLnq6J94uyIBv8niXXjWi87bL8gInvKbh15LFc7G7OaR</DigestValue>
      </Reference>
      <Reference URI="/ppt/slideLayouts/slideLayout3.xml?ContentType=application/vnd.openxmlformats-officedocument.presentationml.slideLayout+xml">
        <DigestMethod Algorithm="http://www.w3.org/2001/04/xmldsig-more#sha384"/>
        <DigestValue>/my2BbYJmCp9lkNhpt/qnT0DvHzd3lQ/XMog0c0tcasDXV3lFqs1fWH8vKnHpwxV</DigestValue>
      </Reference>
      <Reference URI="/ppt/slideLayouts/slideLayout4.xml?ContentType=application/vnd.openxmlformats-officedocument.presentationml.slideLayout+xml">
        <DigestMethod Algorithm="http://www.w3.org/2001/04/xmldsig-more#sha384"/>
        <DigestValue>xtH7pJM+iAv93oS2XiOTQSoiyWrIEzaoUIMKrbyALxApRkQ9pO77jWHvAZIK1q+W</DigestValue>
      </Reference>
      <Reference URI="/ppt/slideLayouts/slideLayout5.xml?ContentType=application/vnd.openxmlformats-officedocument.presentationml.slideLayout+xml">
        <DigestMethod Algorithm="http://www.w3.org/2001/04/xmldsig-more#sha384"/>
        <DigestValue>H6vA3b1tlyzenqLEAelx8z6lzzQA6LQYz9sko1OUyj809smQ5yd3FjkY0WzTz7YJ</DigestValue>
      </Reference>
      <Reference URI="/ppt/slideLayouts/slideLayout6.xml?ContentType=application/vnd.openxmlformats-officedocument.presentationml.slideLayout+xml">
        <DigestMethod Algorithm="http://www.w3.org/2001/04/xmldsig-more#sha384"/>
        <DigestValue>qXrlpt+fpSwHRExkOkPpHzgoc4Z5Z27Dd518ayZUQ55JkbxdDGNmNFwH/v+COiUe</DigestValue>
      </Reference>
      <Reference URI="/ppt/slideLayouts/slideLayout7.xml?ContentType=application/vnd.openxmlformats-officedocument.presentationml.slideLayout+xml">
        <DigestMethod Algorithm="http://www.w3.org/2001/04/xmldsig-more#sha384"/>
        <DigestValue>vfK/+QDMze4TIRO7tF9rKpxVPC/T7boFNK+ZDG84Gm+3NY0JnfUGPh/LEKEkTgMq</DigestValue>
      </Reference>
      <Reference URI="/ppt/slideLayouts/slideLayout8.xml?ContentType=application/vnd.openxmlformats-officedocument.presentationml.slideLayout+xml">
        <DigestMethod Algorithm="http://www.w3.org/2001/04/xmldsig-more#sha384"/>
        <DigestValue>SEKOPKRfFbqO6JpwyQomJgrCskDT4P30HXT/rcmdc3Nsj9XjNzgZrkekdMpNjNod</DigestValue>
      </Reference>
      <Reference URI="/ppt/slideLayouts/slideLayout9.xml?ContentType=application/vnd.openxmlformats-officedocument.presentationml.slideLayout+xml">
        <DigestMethod Algorithm="http://www.w3.org/2001/04/xmldsig-more#sha384"/>
        <DigestValue>HxMGWHIxF1teeXKSQowbymu/3RW3DdvqB8Wtfv1Nqck6sl6ZsPXQ1ZerahloCunR</DigestValue>
      </Reference>
      <Reference URI="/ppt/slideMasters/_rels/slideMaster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1"/>
            <mdssi:RelationshipReference xmlns:mdssi="http://schemas.openxmlformats.org/package/2006/digital-signature" SourceId="rId5"/>
            <mdssi:RelationshipReference xmlns:mdssi="http://schemas.openxmlformats.org/package/2006/digital-signature" SourceId="rId10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8"/>
            <mdssi:RelationshipReference xmlns:mdssi="http://schemas.openxmlformats.org/package/2006/digital-signature" SourceId="rId13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12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</Transform>
          <Transform Algorithm="http://www.w3.org/TR/2001/REC-xml-c14n-20010315"/>
        </Transforms>
        <DigestMethod Algorithm="http://www.w3.org/2001/04/xmldsig-more#sha384"/>
        <DigestValue>1Vf2WxSMIcse+eRlEVrMlHiDrTgojK7bWcDAEWSIvSkTo1ld93t3QUbZ/Ulzre9I</DigestValue>
      </Reference>
      <Reference URI="/ppt/slideMasters/slideMaster1.xml?ContentType=application/vnd.openxmlformats-officedocument.presentationml.slideMaster+xml">
        <DigestMethod Algorithm="http://www.w3.org/2001/04/xmldsig-more#sha384"/>
        <DigestValue>ASaWQhLMdd3zws69v6pj8LapSG3lBJ2zOfz13xLDxoh/6rQbb+yhrTwFu6mX0Os0</DigestValue>
      </Reference>
      <Reference URI="/ppt/slides/_rels/slide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Xg8/P3g6x8E6OQa0YOKbir4zMFhvEm3GWALBLGu88DG6XZjHLiXSVu1c8yaxecg4</DigestValue>
      </Reference>
      <Reference URI="/ppt/slides/_rels/slide1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tzuFEvApC6iohNPY6iMaU7bB7f4Mbxp9CI5avo4stgdkRR9cA1Vf7ba0Zlt1N95p</DigestValue>
      </Reference>
      <Reference URI="/ppt/slides/_rels/slide1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qycVlStgluiOf9Qxckmj3H9Y5K7H7O1HpY40IWoILhLOx4KDn8X8HjxEW/KxB0XK</DigestValue>
      </Reference>
      <Reference URI="/ppt/slides/_rels/slide1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wfFrJrvasqkltl9uyQknWFt+pd06BxMRrK34r89XizOg+Q16VnjQdluqVE2xPfrE</DigestValue>
      </Reference>
      <Reference URI="/ppt/slides/_rels/slide1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TEmU3yj0FfS2pbsXWBC7Z5L+nNkM0FsGuxV8xPvHxqpziN7HNa/0cUcR9IdzqtGs</DigestValue>
      </Reference>
      <Reference URI="/ppt/slides/_rels/slide1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kLRbYR4oR1MdQxXZ11NF8EOmhtMTsoWhDXj7L3wvG68ANmP8shIxV+n0w5ohVPo3</DigestValue>
      </Reference>
      <Reference URI="/ppt/slides/_rels/slide1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qZLAjbN4uboR3v4g0t2uhtHWPWoawV2NmskIK5ma45YpOhaTGPKGMjaNnsQudPWl</DigestValue>
      </Reference>
      <Reference URI="/ppt/slides/_rels/slide1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T44hJzfF1HHERbgXMYydZpFZWoOIfifUlkvyrGjKIc+qSa+VMQLsbRz9n69d5vF8</DigestValue>
      </Reference>
      <Reference URI="/ppt/slides/_rels/slide1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5IfmnNA9I8ejoCQsebVXiZoHmbSX7y6nP53TzHhu3xURqC0Hkj8AOTplyRr2lRoN</DigestValue>
      </Reference>
      <Reference URI="/ppt/slides/_rels/slide1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iOjmMgZt1W4KEd5PXh5m6+94y9cWZP7kHzH+odhKQy5Ro5Y00NFhZvUlnMjw7Et/</DigestValue>
      </Reference>
      <Reference URI="/ppt/slides/_rels/slide1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wVKlEIYXrl+YT9flHSQQoFrRWOJRXmaFVl0eZZY0zAIJN9ffWR4EFxMpFK2tQ7Q2</DigestValue>
      </Reference>
      <Reference URI="/ppt/slides/_rels/slide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X3ohqA8KxAZJrgIMXON2yrlfNZb6s5eLMQfguVx5Po4IyuGnbEec8hQDe+zbeb0Q</DigestValue>
      </Reference>
      <Reference URI="/ppt/slides/_rels/slide2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5VoyjawoimtSJc+v68D7wN5irAY/c6lUChl15MiDYupCUYHQiYytEyMCPPfbo/iI</DigestValue>
      </Reference>
      <Reference URI="/ppt/slides/_rels/slide2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+vYiN0vGJoqxPXynW+8BPd+bAqdrdKWkEB4oprSSHXGddBTHcbIhIiqrilxy57eM</DigestValue>
      </Reference>
      <Reference URI="/ppt/slides/_rels/slide2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5sHMvjv9BWUK46PiBopRBDUZNg0r/ijt39Jud3HBVz8g1HZ7gdYUoer7KgDb0+so</DigestValue>
      </Reference>
      <Reference URI="/ppt/slides/_rels/slide2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Vn+cDTdnvhzrLEJAk6gjquznIIkGiTRhGjV/XhZ7mw/Sd/fIb1eGQcy30lMPyDTF</DigestValue>
      </Reference>
      <Reference URI="/ppt/slides/_rels/slide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G7xYs9IMSBJQvNw5O7psBsVTwivMNd0JlQdd6FHVSw9+mQQtYwG9wwJ0bTwFNiLt</DigestValue>
      </Reference>
      <Reference URI="/ppt/slides/_rels/slide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umJTLzvjsvEMxa5YEZnpNbl49Q5p9KR6dnipzoGf8QJVeYmqwTmOaeWV5C7d426L</DigestValue>
      </Reference>
      <Reference URI="/ppt/slides/_rels/slide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Sdhl3ktdtDYFe5TjCBMr5L0huQ6EDzR8ETLfuXyGZ5Db3kfHFl9+ShUZMebPwXjL</DigestValue>
      </Reference>
      <Reference URI="/ppt/slides/_rels/slide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2p5RlCVE4eGAZ/EXgzy81OTz29GWJ4YLGXH24kcJZOcziKpS2m1GI+5mincdih3F</DigestValue>
      </Reference>
      <Reference URI="/ppt/slides/_rels/slide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G7xYs9IMSBJQvNw5O7psBsVTwivMNd0JlQdd6FHVSw9+mQQtYwG9wwJ0bTwFNiLt</DigestValue>
      </Reference>
      <Reference URI="/ppt/slides/_rels/slide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O68dtW0/nHa1UhrLcJ0GsSS28SXyAuBJ/nDg47mX7uJYRxrKnS3O3pedOA9C+Wku</DigestValue>
      </Reference>
      <Reference URI="/ppt/slides/_rels/slide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o13VRTpsC8wZtYHh9xnE61dH3bFSM+j5WOiknyzW253Fn2UAZaBX27n68y1bIt+G</DigestValue>
      </Reference>
      <Reference URI="/ppt/slides/slide1.xml?ContentType=application/vnd.openxmlformats-officedocument.presentationml.slide+xml">
        <DigestMethod Algorithm="http://www.w3.org/2001/04/xmldsig-more#sha384"/>
        <DigestValue>ug9Uq32cwLS0etZ1/VKC1vCyiWBHyouhG8TD/sZxjFtfxc1Ze9Y/bCxP3mOCGMc/</DigestValue>
      </Reference>
      <Reference URI="/ppt/slides/slide10.xml?ContentType=application/vnd.openxmlformats-officedocument.presentationml.slide+xml">
        <DigestMethod Algorithm="http://www.w3.org/2001/04/xmldsig-more#sha384"/>
        <DigestValue>lfaL2khOEuS1DOACvarVRm51P73HglaPkErUkljz+ZaamK5YT+AMR6doX5HEm0jj</DigestValue>
      </Reference>
      <Reference URI="/ppt/slides/slide11.xml?ContentType=application/vnd.openxmlformats-officedocument.presentationml.slide+xml">
        <DigestMethod Algorithm="http://www.w3.org/2001/04/xmldsig-more#sha384"/>
        <DigestValue>hRjyY5orgktXZdfh39H0tyIzS3nToNbOfW9waRPc9vYUKcOqNDdrzegy33oXIjvC</DigestValue>
      </Reference>
      <Reference URI="/ppt/slides/slide12.xml?ContentType=application/vnd.openxmlformats-officedocument.presentationml.slide+xml">
        <DigestMethod Algorithm="http://www.w3.org/2001/04/xmldsig-more#sha384"/>
        <DigestValue>cNapRrjKichhWH9XFyVvPtoTMeOS/S5H+dLirRyPK2lxQm99ANQ1/ne7dHcqgWTS</DigestValue>
      </Reference>
      <Reference URI="/ppt/slides/slide13.xml?ContentType=application/vnd.openxmlformats-officedocument.presentationml.slide+xml">
        <DigestMethod Algorithm="http://www.w3.org/2001/04/xmldsig-more#sha384"/>
        <DigestValue>HoQSMzMP3liAcKT3j9cibNXAr2MnMEaprWsAXtP2uAAnI8lGaq8DKcrDS7rSZF70</DigestValue>
      </Reference>
      <Reference URI="/ppt/slides/slide14.xml?ContentType=application/vnd.openxmlformats-officedocument.presentationml.slide+xml">
        <DigestMethod Algorithm="http://www.w3.org/2001/04/xmldsig-more#sha384"/>
        <DigestValue>35eFSGxSRNSidyQTiU7rUaO/I2twQ8xQLCOeM/GHvoqdPkudht/anRu0ZcWtR9CA</DigestValue>
      </Reference>
      <Reference URI="/ppt/slides/slide15.xml?ContentType=application/vnd.openxmlformats-officedocument.presentationml.slide+xml">
        <DigestMethod Algorithm="http://www.w3.org/2001/04/xmldsig-more#sha384"/>
        <DigestValue>1lfsrJRUwOoqy61RiUGcM2BVYNgwHcZkBIgVvjZqMudG+FAjCKjmkLZObjh8jhoo</DigestValue>
      </Reference>
      <Reference URI="/ppt/slides/slide16.xml?ContentType=application/vnd.openxmlformats-officedocument.presentationml.slide+xml">
        <DigestMethod Algorithm="http://www.w3.org/2001/04/xmldsig-more#sha384"/>
        <DigestValue>/+oVjgR+Qjqwy/CnC7e+hDWuL1/x1x1ue36NRW+yN99TvQdWLU62svZQsRugee9t</DigestValue>
      </Reference>
      <Reference URI="/ppt/slides/slide17.xml?ContentType=application/vnd.openxmlformats-officedocument.presentationml.slide+xml">
        <DigestMethod Algorithm="http://www.w3.org/2001/04/xmldsig-more#sha384"/>
        <DigestValue>+JZz6b6DdcE/1Zp1mHueyRq65DQ+zrhaCObXjlKpI8y9umqCUgO37A+x2LmMXkDj</DigestValue>
      </Reference>
      <Reference URI="/ppt/slides/slide18.xml?ContentType=application/vnd.openxmlformats-officedocument.presentationml.slide+xml">
        <DigestMethod Algorithm="http://www.w3.org/2001/04/xmldsig-more#sha384"/>
        <DigestValue>NNJvFtjTSWR8j/AiUhuFlMb/rYCpB6wc5DIXkVgzrONn0BgWe/Nm9iexdMg51Vzh</DigestValue>
      </Reference>
      <Reference URI="/ppt/slides/slide19.xml?ContentType=application/vnd.openxmlformats-officedocument.presentationml.slide+xml">
        <DigestMethod Algorithm="http://www.w3.org/2001/04/xmldsig-more#sha384"/>
        <DigestValue>hCBJkzuibvogVseZv7c58kNJQGWdG5QULsNjvI7gJOgSre1wvp53eJJ6Z3WqRak9</DigestValue>
      </Reference>
      <Reference URI="/ppt/slides/slide2.xml?ContentType=application/vnd.openxmlformats-officedocument.presentationml.slide+xml">
        <DigestMethod Algorithm="http://www.w3.org/2001/04/xmldsig-more#sha384"/>
        <DigestValue>6EYfLev4rIADaBlDHslHDWL/uunBzvZ2NDc2kWLSbn01iptd4el4Z+jsjJ7+2shA</DigestValue>
      </Reference>
      <Reference URI="/ppt/slides/slide20.xml?ContentType=application/vnd.openxmlformats-officedocument.presentationml.slide+xml">
        <DigestMethod Algorithm="http://www.w3.org/2001/04/xmldsig-more#sha384"/>
        <DigestValue>a9QGEPGwCrAw3KoveN1egzPXts6pmRmCqS3/ZX9Ms55/f+lK/yLU1CrWFKiv/Hlx</DigestValue>
      </Reference>
      <Reference URI="/ppt/slides/slide21.xml?ContentType=application/vnd.openxmlformats-officedocument.presentationml.slide+xml">
        <DigestMethod Algorithm="http://www.w3.org/2001/04/xmldsig-more#sha384"/>
        <DigestValue>rK0IMCGeSQMKpyezB0hozAykcxII2yWFHbhONUo/2CdkDxFddrrtMk5z6XLWHjqX</DigestValue>
      </Reference>
      <Reference URI="/ppt/slides/slide22.xml?ContentType=application/vnd.openxmlformats-officedocument.presentationml.slide+xml">
        <DigestMethod Algorithm="http://www.w3.org/2001/04/xmldsig-more#sha384"/>
        <DigestValue>uvnLFF9TrO1C/+Hd5xX7Nkz1quIRhdMpyqY2TmGF3PzAb+EH+qj+eXhXVaT7NCPe</DigestValue>
      </Reference>
      <Reference URI="/ppt/slides/slide23.xml?ContentType=application/vnd.openxmlformats-officedocument.presentationml.slide+xml">
        <DigestMethod Algorithm="http://www.w3.org/2001/04/xmldsig-more#sha384"/>
        <DigestValue>qIFL4z2knfK9CanVYSx6I/Met1tNFt6dtIgWy7+V4BRvhX6qv9bmMeMAWbBEZ9eV</DigestValue>
      </Reference>
      <Reference URI="/ppt/slides/slide3.xml?ContentType=application/vnd.openxmlformats-officedocument.presentationml.slide+xml">
        <DigestMethod Algorithm="http://www.w3.org/2001/04/xmldsig-more#sha384"/>
        <DigestValue>+kGU18clJ02tmOeVN8W5XaiKmSR1QUkdycTq/tOW15aNuiqoYMFn2+auadpHt9wE</DigestValue>
      </Reference>
      <Reference URI="/ppt/slides/slide4.xml?ContentType=application/vnd.openxmlformats-officedocument.presentationml.slide+xml">
        <DigestMethod Algorithm="http://www.w3.org/2001/04/xmldsig-more#sha384"/>
        <DigestValue>mRyX2sYy2T3EG8zW6AjVxW22Dl5bZ2iRxbQoRjAvADYdGFdm/FvnvJ/Yn5Knxo9i</DigestValue>
      </Reference>
      <Reference URI="/ppt/slides/slide5.xml?ContentType=application/vnd.openxmlformats-officedocument.presentationml.slide+xml">
        <DigestMethod Algorithm="http://www.w3.org/2001/04/xmldsig-more#sha384"/>
        <DigestValue>9Hpi3WXt9A7p42QwsQq3+Muau1Ft6OZsvCqNM2gGhMWt0ChRbmm7i0cIwjjsU3CI</DigestValue>
      </Reference>
      <Reference URI="/ppt/slides/slide6.xml?ContentType=application/vnd.openxmlformats-officedocument.presentationml.slide+xml">
        <DigestMethod Algorithm="http://www.w3.org/2001/04/xmldsig-more#sha384"/>
        <DigestValue>sd3qwbZFS/srvKVLnzMVCFdU4OmnjX0wJI/Uteaws2rLEVOjg/U6oux0jbPGas7x</DigestValue>
      </Reference>
      <Reference URI="/ppt/slides/slide7.xml?ContentType=application/vnd.openxmlformats-officedocument.presentationml.slide+xml">
        <DigestMethod Algorithm="http://www.w3.org/2001/04/xmldsig-more#sha384"/>
        <DigestValue>vTEKFGOS4CsbC5ZT5P986if1PENa8GEX33qLhqoQiaW2Y71ez67qf9kgkfbRZiFA</DigestValue>
      </Reference>
      <Reference URI="/ppt/slides/slide8.xml?ContentType=application/vnd.openxmlformats-officedocument.presentationml.slide+xml">
        <DigestMethod Algorithm="http://www.w3.org/2001/04/xmldsig-more#sha384"/>
        <DigestValue>rzQ6Iw0KUC5nvKfTW1EG8/K3ji5ayCQmTC/vYeTwjO1YaLSUaKaGZOOOe6c/boy4</DigestValue>
      </Reference>
      <Reference URI="/ppt/slides/slide9.xml?ContentType=application/vnd.openxmlformats-officedocument.presentationml.slide+xml">
        <DigestMethod Algorithm="http://www.w3.org/2001/04/xmldsig-more#sha384"/>
        <DigestValue>xU51L7B4/JyfP7PT6P75aJCFUR5eFQyefSlBTRlW32bOeVzrp3NebscVt0QwHmWS</DigestValue>
      </Reference>
      <Reference URI="/ppt/tableStyles.xml?ContentType=application/vnd.openxmlformats-officedocument.presentationml.tableStyles+xml">
        <DigestMethod Algorithm="http://www.w3.org/2001/04/xmldsig-more#sha384"/>
        <DigestValue>+/2w8zRSbvnrRoHD3c2R24uVLErq0rgH6N71A+nK6Phe8Af5JoC55ozHJIOoTnYP</DigestValue>
      </Reference>
      <Reference URI="/ppt/theme/theme1.xml?ContentType=application/vnd.openxmlformats-officedocument.theme+xml">
        <DigestMethod Algorithm="http://www.w3.org/2001/04/xmldsig-more#sha384"/>
        <DigestValue>fOkgw0ZQKyXNcUFsbS11GSkhcdfio2JVkWEqMWgQjQr4HX3qG3sgLPc/IrOiycR/</DigestValue>
      </Reference>
      <Reference URI="/ppt/theme/theme2.xml?ContentType=application/vnd.openxmlformats-officedocument.theme+xml">
        <DigestMethod Algorithm="http://www.w3.org/2001/04/xmldsig-more#sha384"/>
        <DigestValue>5fyvm08K8qY5JtGJUGAbHyz3/qpE7xqX9FSgQHoUuzrOUIrXLOmE4DGDNTQ/AMsT</DigestValue>
      </Reference>
      <Reference URI="/ppt/theme/theme3.xml?ContentType=application/vnd.openxmlformats-officedocument.theme+xml">
        <DigestMethod Algorithm="http://www.w3.org/2001/04/xmldsig-more#sha384"/>
        <DigestValue>5fyvm08K8qY5JtGJUGAbHyz3/qpE7xqX9FSgQHoUuzrOUIrXLOmE4DGDNTQ/AMsT</DigestValue>
      </Reference>
      <Reference URI="/ppt/viewProps.xml?ContentType=application/vnd.openxmlformats-officedocument.presentationml.viewProps+xml">
        <DigestMethod Algorithm="http://www.w3.org/2001/04/xmldsig-more#sha384"/>
        <DigestValue>AIhVAqRO/xtVsMYPOPUPuD0fJzzEpgwbGmnH2Rd8LfEdBSpAAYu6rNz7RHhcrDhs</DigestValue>
      </Reference>
    </Manifest>
    <SignatureProperties>
      <SignatureProperty Id="idSignatureTime" Target="#idPackageSignature">
        <mdssi:SignatureTime xmlns:mdssi="http://schemas.openxmlformats.org/package/2006/digital-signature">
          <mdssi:Format>YYYY-MM-DDThh:mm:ssTZD</mdssi:Format>
          <mdssi:Value>2025-11-10T08:01:09Z</mdssi:Value>
        </mdssi:SignatureTime>
      </SignatureProperty>
    </SignatureProperties>
  </Object>
  <Object Id="idOfficeObject">
    <SignatureProperties>
      <SignatureProperty Id="idOfficeV1Details" Target="#idPackageSignature">
        <SignatureInfoV1 xmlns="http://schemas.microsoft.com/office/2006/digsig">
          <SetupID/>
          <SignatureText/>
          <SignatureImage/>
          <SignatureComments>Establish that this work is entirely the author's original work.</SignatureComments>
          <WindowsVersion>10.0</WindowsVersion>
          <OfficeVersion>16.0.19328/27</OfficeVersion>
          <ApplicationVersion>16.0.19328</ApplicationVersion>
          <Monitors>1</Monitors>
          <HorizontalResolution>2880</HorizontalResolution>
          <VerticalResolution>1800</VerticalResolution>
          <ColorDepth>32</ColorDepth>
          <SignatureProviderId>{00000000-0000-0000-0000-000000000000}</SignatureProviderId>
          <SignatureProviderUrl/>
          <SignatureProviderDetails>9</SignatureProviderDetails>
          <SignatureType>1</SignatureType>
        </SignatureInfoV1>
      </SignatureProperty>
    </SignatureProperties>
  </Object>
  <Object>
    <xd:QualifyingProperties xmlns:xd="http://uri.etsi.org/01903/v1.3.2#" Target="#idPackageSignature">
      <xd:SignedProperties Id="idSignedProperties">
        <xd:SignedSignatureProperties>
          <xd:SigningTime>2025-11-10T08:01:09Z</xd:SigningTime>
          <xd:SigningCertificate>
            <xd:Cert>
              <xd:CertDigest>
                <DigestMethod Algorithm="http://www.w3.org/2001/04/xmldsig-more#sha384"/>
                <DigestValue>DSq7mRks2pcvRWCocIcWIZSkQVsOoCJFI+LsAPRWSGoukGwkDtfTDE34KR7GNb0S</DigestValue>
              </xd:CertDigest>
              <xd:IssuerSerial>
                <X509IssuerName>CN=trust_e526705f-ba53-4df9-acca-a89d0094cb23</X509IssuerName>
                <X509SerialNumber>2810758547567640102</X509SerialNumber>
              </xd:IssuerSerial>
            </xd:Cert>
          </xd:SigningCertificate>
          <xd:SignaturePolicyIdentifier>
            <xd:SignaturePolicyImplied/>
          </xd:SignaturePolicyIdentifier>
        </xd:SignedSignatureProperties>
        <xd:SignedDataObjectProperties>
          <xd:CommitmentTypeIndication>
            <xd:CommitmentTypeId>
              <xd:Identifier>http://uri.etsi.org/01903/v1.2.2#ProofOfOrigin</xd:Identifier>
              <xd:Description>Created and approved this document</xd:Description>
            </xd:CommitmentTypeId>
            <xd:AllSignedDataObjects/>
            <xd:CommitmentTypeQualifiers>
              <xd:CommitmentTypeQualifier>Establish that this work is entirely the author's original work.</xd:CommitmentTypeQualifier>
            </xd:CommitmentTypeQualifiers>
          </xd:CommitmentTypeIndication>
        </xd:SignedDataObjectProperties>
      </xd:SignedProperties>
    </xd:QualifyingProperties>
  </Object>
</Signature>
</file>

<file path=docProps/app.xml><?xml version="1.0" encoding="utf-8"?>
<Properties xmlns="http://schemas.openxmlformats.org/officeDocument/2006/extended-properties" xmlns:vt="http://schemas.openxmlformats.org/officeDocument/2006/docPropsVTypes">
  <TotalTime>1460</TotalTime>
  <Words>1248</Words>
  <Application>Microsoft Office PowerPoint</Application>
  <PresentationFormat>Widescreen</PresentationFormat>
  <Paragraphs>172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Arial</vt:lpstr>
      <vt:lpstr>Montserrat</vt:lpstr>
      <vt:lpstr>Montserrat Light</vt:lpstr>
      <vt:lpstr>Montserrat Medium</vt:lpstr>
      <vt:lpstr>Montserrat SemiBold</vt:lpstr>
      <vt:lpstr>Office Theme</vt:lpstr>
      <vt:lpstr>PowerPoint Presentation</vt:lpstr>
      <vt:lpstr>Contents</vt:lpstr>
      <vt:lpstr>Project Overview</vt:lpstr>
      <vt:lpstr>Context</vt:lpstr>
      <vt:lpstr>North Star Metrics</vt:lpstr>
      <vt:lpstr>North Star Metrics – Current Outlook</vt:lpstr>
      <vt:lpstr>Insights Deep-Dive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Recommendations &amp; Next Steps</vt:lpstr>
      <vt:lpstr>Key recommendations</vt:lpstr>
      <vt:lpstr>Caveats &amp; next steps</vt:lpstr>
      <vt:lpstr>Thank You</vt:lpstr>
      <vt:lpstr>Appendix</vt:lpstr>
      <vt:lpstr>Technical Process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Shreeraj Salunke</dc:creator>
  <cp:lastModifiedBy>Shreeraj Salunke</cp:lastModifiedBy>
  <cp:revision>22</cp:revision>
  <dcterms:created xsi:type="dcterms:W3CDTF">2025-10-17T10:36:00Z</dcterms:created>
  <dcterms:modified xsi:type="dcterms:W3CDTF">2025-11-10T08:00:46Z</dcterms:modified>
  <cp:contentStatus/>
</cp:coreProperties>
</file>